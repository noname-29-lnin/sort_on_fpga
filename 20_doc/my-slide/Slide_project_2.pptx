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83" r:id="rId4"/>
    <p:sldId id="285" r:id="rId5"/>
    <p:sldId id="302" r:id="rId6"/>
    <p:sldId id="284" r:id="rId7"/>
    <p:sldId id="288" r:id="rId8"/>
    <p:sldId id="287" r:id="rId9"/>
    <p:sldId id="286"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281" r:id="rId24"/>
  </p:sldIdLst>
  <p:sldSz cx="18288000" cy="10287000"/>
  <p:notesSz cx="6858000" cy="9144000"/>
  <p:embeddedFontLst>
    <p:embeddedFont>
      <p:font typeface="Calibri (MS)" panose="020B0604020202020204" charset="0"/>
      <p:regular r:id="rId26"/>
    </p:embeddedFont>
    <p:embeddedFont>
      <p:font typeface="Calibri (MS) Bold" panose="020B0604020202020204" charset="0"/>
      <p:regular r:id="rId27"/>
    </p:embeddedFont>
    <p:embeddedFont>
      <p:font typeface="Noto Serif Display" panose="020B0604020202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8445-5D3A-DC00-0724-FC83B9C2A8C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E7B49B-40E2-C771-5630-29F5A0ABE05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7816D1A-D7C4-777C-1D42-8D6C838CCA3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B62EC6A-0F3B-601C-4035-08BC10ABCCF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BAE3A39-66FB-D279-33F6-BC10CEC3BC5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4170A990-EA68-240A-2933-F30E9B99D34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5DA8CFF-D3F8-7D18-42F6-1AC75EBD4DA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09751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09512-4DBF-1C5D-9BDE-5B54F14A2B9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EACB7D5-C105-5924-C9B8-1A73B14325A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FA69770-6747-0584-6BAD-1E80B7DF8D2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6D84C9B-20F4-D6F5-B85F-C2142789BB7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7AD8955-1B82-F733-AADA-90515AC0F8C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959398F2-B7AD-0060-EF1C-42A8F98AA43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9C245AA-BDCA-A094-0063-9A14AB80D1E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42471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9F5D-A4D6-50E7-611E-EC2CC21D34B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136FAD-23A4-AD86-36F3-757ADF65173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9B91018-7E5A-56E6-B1E3-23AF7DCE439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5B52A2A-3AAB-53F9-BC15-A4D9BEA0762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302793-7672-9AAB-B6BD-D91EA025A63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159238DA-9095-5557-7F71-D762F80C5CF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958FEA9-CA92-7EA9-7019-8682993EA97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22871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000C6-7B7D-059F-1274-4A34FDC0DB3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142D90-ADB7-D68B-5B0A-DA12FF8B744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DC59BF2-747C-F69C-BF86-B597B4CB2CF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967C8E5-577C-8E72-CBB1-BF4AADAEAD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1DC3A7E-BFD1-6F80-4206-E417CF4C386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2A1BFCD-BAB9-0BA5-E54F-266162B4D8F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048F94C-CBC2-120D-9CB3-0F45E4A1544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37836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CE782-E57E-06D1-94CC-45F2DA5F464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F9B7EA-A4B5-B439-1C5E-94F0F5B5A56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CC27205-FC8B-1895-1F44-6B08F805DFD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5948ACF-E89E-3ADC-51D3-836DCF0BB83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A92BE54-1255-7FA1-1415-E05A897B05F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3E5076CD-B5E9-8F0A-8F81-067AF7537F4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C1E5092-D5F1-5B81-0A5B-FE75E5C3399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37036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91BA4-165C-E9C2-608D-E49523B99D1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C7EE79-AE71-7CF4-76B1-82E4E423554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E811FE4-A477-51BE-261A-F90E2E76CE5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D2015D2-2C3A-279C-7820-2E5B6519FA2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DDD5374-DEC0-E958-1AF5-46276BB73B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459A31E6-FCA0-DFC0-D20C-049975197FB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1A79AA-AF03-BC0C-A087-E4D983DB9B7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257229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2C0E-B3BC-C189-5E95-04434D85840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C41C22-9B1E-B73C-56C0-B06FAE2773E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20B7541-90DA-62A4-A7B9-17E13C295AD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1B0B85D-6455-6238-8C1C-EE37D77868A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EE5D887-A5EA-320D-69CA-6F604185F56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FF41266F-FB5F-4B23-1D81-312F20C06E6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E18CB30-F92D-14CA-9C03-47814A59892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37299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8808D-C1ED-6F81-6066-6CD26BDAD0D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3DEA57-61AC-3AF9-9EF5-99058032390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0B421BD-9413-AD5A-EBFF-B67939F67E4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A613BB7-8586-0BA9-3645-A396F81DFB2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AA5F878-4F33-6640-F655-6ED4FF2C0DC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183CC219-0878-C31C-84CB-23FF25F5AC3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C11FAD4-66C3-A01E-4AF3-E787270D3D7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14592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6AFBB-4C9A-F901-BE70-878445DB565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9C0CB9-7F03-3515-8F13-85906BE77E8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EBCDE67-5752-9F8B-59F9-601FCF52F83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BC1AFFB-5A31-8F23-9B85-CD508A57AC6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ECED97C-49FF-B813-8B70-566B92F368E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7D687E46-1BAF-B911-60ED-E94AF82686F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E8D643E-3447-F6F0-F5E8-EC3AD572E11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707619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F4C90-AFFF-5387-B910-C1ABA8C3649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B5959A-B997-2DA0-84AF-38AD32C8D47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FC6785E-FBA5-7882-22CC-C4ABDEE4BEC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386F3EE-3451-D87A-6C78-D516D7B902E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468A6BE-D915-701D-75BD-D7B3787714A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DB856BB2-A38C-823D-FD84-517E0CF6477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DA55C67-B32E-8381-6A72-A10CA6CDE70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552317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58FA0-3EC0-3077-6786-311970C7B01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D9D7C0-9D7C-E8FC-4A16-FFBC8C3A14B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000A115-85A3-EBEC-50F5-5F26AC6022E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3D82BCD-06F9-5368-D78D-40EC3075128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A126793-D201-A56C-EE23-B81D5F4EB63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B91C5608-65AC-801A-F5B9-B7ED4E2E6D0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23BAF94-D26E-1E83-7A64-072F8153CF5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57594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F94DA-6F88-C102-1A91-85215B7413D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E142C2-CD59-7577-0DEC-568FFC86DD0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8B91C98-6008-D3BC-3C05-ABB5EFE57E6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9C807C5-6EAB-51DA-66F7-5D68C5C4122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B69E152-DBBD-7755-550E-14330540396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17533A2F-A08B-202D-B526-280891AFA23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B3A56E7-7848-9E04-37FD-A7C04F3A709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76648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24849-D79A-AB3F-4DFF-4F47576A610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6C5FBC-CBA2-4DD9-D994-5B4E7E9ECE4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AFBAFBE-5E4E-D02E-B5A5-AA3C42921B3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3A8E23A-5726-0CDA-3ABC-43FC46A7EBE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5B4B261-3128-265A-1582-05DE63B907B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41A8A57D-DD37-4042-ABD1-331010D81C4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19697FD-6B0D-78E9-290A-32A0E4F6AD2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72005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D220B-2615-C20C-2C7C-73C766337CC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6AF1D6-DB01-6DC5-140A-DFD3B6C3832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9CAF099-D76E-EFF5-56B3-C7D70C7E337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F7B71E6-5215-FCC5-7B99-B9981850993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7906AC1-E6DC-ED06-3FA5-CB4C0C6C7D1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0DD852A7-16BB-2618-C457-F6001852262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04571BF-C012-B342-2AA2-2F021B1D84C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89888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29E8B-AABE-B006-0CC2-C6485F1B88C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8CF21-C9F5-B5BC-1E5C-7DF18430F03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5BFE6FE-F6CC-69F7-0B28-947C2281358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1A719E4-1A1A-2B12-6F92-2437283F8B0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A25C136-84F2-20DF-5E88-57178C77830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097CD8B2-9BAE-6EAB-2987-AFDD4143393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AC4A771-D5DB-0DD1-C0BF-FFC997D5D6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265254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CA4E-E46E-0C24-964C-DB6F37FCED1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DDDF5A-B7F1-596F-1D45-6B6336A5AAF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3D16DDA-B380-EC60-1657-64A2BF26C86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A0E5584-EB06-6940-5478-880164F86CB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61399BA-E5A3-5CC0-9809-1848CEDF578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726BF3D9-CB28-363B-CD31-D93EFB72E2B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E8EC392-BFEA-A2D1-03CE-DC258D367BB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76466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F675E-580C-B05B-E9B4-22D6A02F54B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C47791-921C-AFF1-D4A8-1932F88AB50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D24DA89-236B-21B7-C544-442B6C4C7E1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1226C15-F479-AD57-A612-6830BF8E006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EEB0394-5CC8-7285-F27A-1B41A3DFAEE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D6466239-9D8A-FB1C-DD36-D0907EDC798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9867C99-6D91-1B57-05F0-7874277C54B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859102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8B66C-4C2B-7740-6D7D-467B81524D3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E85206-2F05-523B-19B8-F8B3ED88502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D68B521-112D-5E5F-2832-41AB6B03E0A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34C3123-DD71-92D8-38FC-CF2B1056EB0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9AFE8FE-1775-E9B9-8E3C-535B8F7644F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0AAF4081-FCEC-6235-BCEE-28D727E15A4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424A54D-7F69-C210-67C2-5FB6460049C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36940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1CA6-3EED-61AC-8BD1-EE3F3D65990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1278B4-36AE-9C80-187B-8A207A62D79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BFE7DF7-4737-0F4F-75BE-357C58413E0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FFB841F-5250-C64B-3CCB-1B01CAA8A4F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86868DA-3FBB-FA56-D9D8-B11678E95AF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BA4F9862-0792-3E07-480B-7956CF27B8E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ACF6BB9-6C28-8642-AE47-7043906DCF9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91120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DCEA0-0B1D-2CF6-DAEE-4BC53B36C01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DA6F41-4489-60AD-0633-06BA5EE7B6F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E1BEF97-DF0A-82C3-F8E4-F46372D3A87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C1D78B1-6524-0C3C-A5EC-92076980982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12A585C-51C0-2075-8C3E-8B2E2BE091E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D9E89D5F-55E5-A4E9-7DCB-9DB54C5B340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A1FF981-1CBF-7892-1541-84F860D7666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38230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"Tóm lại, đề tài 'Dự báo tình trạng giao thông đô thị sử dụng mô hình học sâu và dữ liệu thời gian thực' đã đạt được các mục tiêu nghiên cứu, phát triển thành công hệ thống với hiệu suất tốt và có tiềm năng ứng dụng cao trong thực tiễn, đặc biệt trong việc khai thác giá trị từ dữ liệu video."</a:t>
            </a:r>
          </a:p>
          <a:p>
            <a:r>
              <a:rPr lang="en-US"/>
              <a:t>Bạn: "Một lần nữa, em xin chân thành cảm ơn sự lắng nghe và quan tâm của Hội đồng và quý thầy cô."</a:t>
            </a:r>
          </a:p>
          <a:p>
            <a:r>
              <a:rPr lang="en-US"/>
              <a:t>Bạn: "Em xin mời Hội đồng đặt câu hỏi và góp ý cho đề tài của 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Freeform 3"/>
          <p:cNvSpPr/>
          <p:nvPr/>
        </p:nvSpPr>
        <p:spPr>
          <a:xfrm>
            <a:off x="7678540" y="2685887"/>
            <a:ext cx="2930918" cy="2342681"/>
          </a:xfrm>
          <a:custGeom>
            <a:avLst/>
            <a:gdLst/>
            <a:ahLst/>
            <a:cxnLst/>
            <a:rect l="l" t="t" r="r" b="b"/>
            <a:pathLst>
              <a:path w="1962252" h="1568427">
                <a:moveTo>
                  <a:pt x="0" y="0"/>
                </a:moveTo>
                <a:lnTo>
                  <a:pt x="1962252" y="0"/>
                </a:lnTo>
                <a:lnTo>
                  <a:pt x="1962252" y="1568426"/>
                </a:lnTo>
                <a:lnTo>
                  <a:pt x="0" y="1568426"/>
                </a:lnTo>
                <a:lnTo>
                  <a:pt x="0" y="0"/>
                </a:lnTo>
                <a:close/>
              </a:path>
            </a:pathLst>
          </a:custGeom>
          <a:blipFill>
            <a:blip r:embed="rId4"/>
            <a:stretch>
              <a:fillRect t="-6902" b="-6902"/>
            </a:stretch>
          </a:blipFill>
        </p:spPr>
        <p:txBody>
          <a:bodyPr/>
          <a:lstStyle/>
          <a:p>
            <a:endParaRPr lang="vi-VN"/>
          </a:p>
        </p:txBody>
      </p:sp>
      <p:sp>
        <p:nvSpPr>
          <p:cNvPr id="6" name="TextBox 6"/>
          <p:cNvSpPr txBox="1"/>
          <p:nvPr/>
        </p:nvSpPr>
        <p:spPr>
          <a:xfrm>
            <a:off x="9143999" y="7851453"/>
            <a:ext cx="7897703" cy="1695336"/>
          </a:xfrm>
          <a:prstGeom prst="rect">
            <a:avLst/>
          </a:prstGeom>
        </p:spPr>
        <p:txBody>
          <a:bodyPr lIns="0" tIns="0" rIns="0" bIns="0" rtlCol="0" anchor="t">
            <a:spAutoFit/>
          </a:bodyPr>
          <a:lstStyle/>
          <a:p>
            <a:pPr algn="l">
              <a:lnSpc>
                <a:spcPts val="4480"/>
              </a:lnSpc>
            </a:pPr>
            <a:r>
              <a:rPr lang="en-US" sz="3200" b="1" dirty="0">
                <a:solidFill>
                  <a:srgbClr val="000000"/>
                </a:solidFill>
                <a:latin typeface="Calibri (MS) Bold"/>
                <a:ea typeface="Calibri (MS) Bold"/>
                <a:cs typeface="Calibri (MS) Bold"/>
                <a:sym typeface="Calibri (MS) Bold"/>
              </a:rPr>
              <a:t>GVHD:</a:t>
            </a:r>
            <a:r>
              <a:rPr lang="en-US" sz="3200" dirty="0">
                <a:solidFill>
                  <a:srgbClr val="000000"/>
                </a:solidFill>
                <a:latin typeface="Calibri (MS)"/>
                <a:ea typeface="Calibri (MS)"/>
                <a:cs typeface="Calibri (MS)"/>
                <a:sym typeface="Calibri (MS)"/>
              </a:rPr>
              <a:t> </a:t>
            </a:r>
            <a:r>
              <a:rPr lang="en-US" sz="3200" dirty="0" err="1">
                <a:solidFill>
                  <a:srgbClr val="000000"/>
                </a:solidFill>
                <a:latin typeface="Calibri (MS)"/>
                <a:ea typeface="Calibri (MS)"/>
                <a:cs typeface="Calibri (MS)"/>
                <a:sym typeface="Calibri (MS)"/>
              </a:rPr>
              <a:t>ThS</a:t>
            </a:r>
            <a:r>
              <a:rPr lang="en-US" sz="3200" dirty="0">
                <a:solidFill>
                  <a:srgbClr val="000000"/>
                </a:solidFill>
                <a:latin typeface="Calibri (MS)"/>
                <a:ea typeface="Calibri (MS)"/>
                <a:cs typeface="Calibri (MS)"/>
                <a:sym typeface="Calibri (MS)"/>
              </a:rPr>
              <a:t>. Nguyễn Trung Hiếu</a:t>
            </a:r>
          </a:p>
          <a:p>
            <a:pPr algn="l">
              <a:lnSpc>
                <a:spcPts val="4480"/>
              </a:lnSpc>
            </a:pPr>
            <a:r>
              <a:rPr lang="en-US" sz="3200" b="1" dirty="0">
                <a:solidFill>
                  <a:srgbClr val="000000"/>
                </a:solidFill>
                <a:latin typeface="Calibri (MS) Bold"/>
                <a:ea typeface="Calibri (MS) Bold"/>
                <a:cs typeface="Calibri (MS) Bold"/>
                <a:sym typeface="Calibri (MS) Bold"/>
              </a:rPr>
              <a:t>SVTH:</a:t>
            </a:r>
            <a:r>
              <a:rPr lang="en-US" sz="3200" dirty="0">
                <a:solidFill>
                  <a:srgbClr val="000000"/>
                </a:solidFill>
                <a:latin typeface="Calibri (MS)"/>
                <a:ea typeface="Calibri (MS)"/>
                <a:cs typeface="Calibri (MS)"/>
                <a:sym typeface="Calibri (MS)"/>
              </a:rPr>
              <a:t>  Nguyễn Đại Đồng -  2210780</a:t>
            </a:r>
          </a:p>
          <a:p>
            <a:pPr algn="l">
              <a:lnSpc>
                <a:spcPts val="4480"/>
              </a:lnSpc>
              <a:spcBef>
                <a:spcPct val="0"/>
              </a:spcBef>
            </a:pPr>
            <a:r>
              <a:rPr lang="en-US" sz="3200" dirty="0">
                <a:solidFill>
                  <a:srgbClr val="000000"/>
                </a:solidFill>
                <a:latin typeface="Calibri (MS)"/>
                <a:ea typeface="Calibri (MS)"/>
                <a:cs typeface="Calibri (MS)"/>
                <a:sym typeface="Calibri (MS)"/>
              </a:rPr>
              <a:t>             </a:t>
            </a:r>
          </a:p>
        </p:txBody>
      </p:sp>
      <p:sp>
        <p:nvSpPr>
          <p:cNvPr id="7" name="TextBox 7"/>
          <p:cNvSpPr txBox="1"/>
          <p:nvPr/>
        </p:nvSpPr>
        <p:spPr>
          <a:xfrm>
            <a:off x="2519593" y="539680"/>
            <a:ext cx="13248812" cy="456728"/>
          </a:xfrm>
          <a:prstGeom prst="rect">
            <a:avLst/>
          </a:prstGeom>
        </p:spPr>
        <p:txBody>
          <a:bodyPr wrap="square" lIns="0" tIns="0" rIns="0" bIns="0" rtlCol="0" anchor="t">
            <a:spAutoFit/>
          </a:bodyPr>
          <a:lstStyle/>
          <a:p>
            <a:pPr algn="ctr">
              <a:lnSpc>
                <a:spcPts val="3220"/>
              </a:lnSpc>
              <a:spcBef>
                <a:spcPct val="0"/>
              </a:spcBef>
            </a:pPr>
            <a:r>
              <a:rPr lang="en-US" sz="4400" b="1" dirty="0">
                <a:solidFill>
                  <a:srgbClr val="1687DA"/>
                </a:solidFill>
                <a:latin typeface="Calibri (MS) Bold"/>
                <a:ea typeface="Calibri (MS) Bold"/>
                <a:cs typeface="Calibri (MS) Bold"/>
                <a:sym typeface="Calibri (MS) Bold"/>
              </a:rPr>
              <a:t>ĐẠI HỌC QUỐC GIA THÀNH PHỐ HỒ CHÍ MINH</a:t>
            </a:r>
          </a:p>
        </p:txBody>
      </p:sp>
      <p:sp>
        <p:nvSpPr>
          <p:cNvPr id="8" name="TextBox 8"/>
          <p:cNvSpPr txBox="1"/>
          <p:nvPr/>
        </p:nvSpPr>
        <p:spPr>
          <a:xfrm>
            <a:off x="4761787" y="1118584"/>
            <a:ext cx="8764424" cy="429669"/>
          </a:xfrm>
          <a:prstGeom prst="rect">
            <a:avLst/>
          </a:prstGeom>
        </p:spPr>
        <p:txBody>
          <a:bodyPr wrap="square" lIns="0" tIns="0" rIns="0" bIns="0" rtlCol="0" anchor="t">
            <a:spAutoFit/>
          </a:bodyPr>
          <a:lstStyle/>
          <a:p>
            <a:pPr algn="ctr">
              <a:lnSpc>
                <a:spcPts val="3220"/>
              </a:lnSpc>
              <a:spcBef>
                <a:spcPct val="0"/>
              </a:spcBef>
            </a:pPr>
            <a:r>
              <a:rPr lang="en-US" sz="3600" b="1" dirty="0">
                <a:solidFill>
                  <a:srgbClr val="28306B"/>
                </a:solidFill>
                <a:latin typeface="Calibri (MS) Bold"/>
                <a:ea typeface="Calibri (MS) Bold"/>
                <a:cs typeface="Calibri (MS) Bold"/>
                <a:sym typeface="Calibri (MS) Bold"/>
              </a:rPr>
              <a:t>TRƯỜNG ĐẠI HỌC BÁCH KHOA</a:t>
            </a:r>
          </a:p>
        </p:txBody>
      </p:sp>
      <p:sp>
        <p:nvSpPr>
          <p:cNvPr id="9" name="TextBox 9"/>
          <p:cNvSpPr txBox="1"/>
          <p:nvPr/>
        </p:nvSpPr>
        <p:spPr>
          <a:xfrm>
            <a:off x="17789454" y="9659082"/>
            <a:ext cx="160853" cy="379671"/>
          </a:xfrm>
          <a:prstGeom prst="rect">
            <a:avLst/>
          </a:prstGeom>
        </p:spPr>
        <p:txBody>
          <a:bodyPr wrap="none" lIns="0" tIns="0" rIns="0" bIns="0" rtlCol="0" anchor="t">
            <a:spAutoFit/>
          </a:bodyPr>
          <a:lstStyle/>
          <a:p>
            <a:pPr algn="ctr">
              <a:lnSpc>
                <a:spcPts val="3170"/>
              </a:lnSpc>
              <a:spcBef>
                <a:spcPct val="0"/>
              </a:spcBef>
            </a:pPr>
            <a:r>
              <a:rPr lang="en-US" sz="2264">
                <a:solidFill>
                  <a:srgbClr val="000000"/>
                </a:solidFill>
                <a:latin typeface="Noto Serif Display"/>
                <a:ea typeface="Noto Serif Display"/>
                <a:cs typeface="Noto Serif Display"/>
                <a:sym typeface="Noto Serif Display"/>
              </a:rPr>
              <a:t>1</a:t>
            </a:r>
          </a:p>
        </p:txBody>
      </p:sp>
      <p:sp>
        <p:nvSpPr>
          <p:cNvPr id="12" name="TextBox 4">
            <a:extLst>
              <a:ext uri="{FF2B5EF4-FFF2-40B4-BE49-F238E27FC236}">
                <a16:creationId xmlns:a16="http://schemas.microsoft.com/office/drawing/2014/main" id="{79BD11C2-3001-960C-FFEB-2A8FC0C09756}"/>
              </a:ext>
            </a:extLst>
          </p:cNvPr>
          <p:cNvSpPr txBox="1"/>
          <p:nvPr/>
        </p:nvSpPr>
        <p:spPr>
          <a:xfrm>
            <a:off x="1336647" y="5561363"/>
            <a:ext cx="15614704" cy="1302472"/>
          </a:xfrm>
          <a:prstGeom prst="rect">
            <a:avLst/>
          </a:prstGeom>
        </p:spPr>
        <p:txBody>
          <a:bodyPr lIns="0" tIns="0" rIns="0" bIns="0" rtlCol="0" anchor="t">
            <a:spAutoFit/>
          </a:bodyPr>
          <a:lstStyle/>
          <a:p>
            <a:pPr algn="ctr">
              <a:lnSpc>
                <a:spcPts val="5040"/>
              </a:lnSpc>
            </a:pPr>
            <a:r>
              <a:rPr lang="en-US" sz="6000" dirty="0">
                <a:solidFill>
                  <a:schemeClr val="tx2">
                    <a:lumMod val="50000"/>
                  </a:schemeClr>
                </a:solidFill>
                <a:latin typeface="Times New Roman" panose="02020603050405020304" pitchFamily="18" charset="0"/>
                <a:cs typeface="Times New Roman" panose="02020603050405020304" pitchFamily="18" charset="0"/>
              </a:rPr>
              <a:t>Hardware Accelerator for Mean-Based Large-Scale Sorting using PIM Architecture</a:t>
            </a:r>
            <a:endParaRPr lang="en-US" sz="9600" b="1" dirty="0">
              <a:solidFill>
                <a:schemeClr val="tx2">
                  <a:lumMod val="50000"/>
                </a:schemeClr>
              </a:solidFill>
              <a:latin typeface="Times New Roman" panose="02020603050405020304" pitchFamily="18" charset="0"/>
              <a:ea typeface="Calibri (MS) Bold"/>
              <a:cs typeface="Times New Roman" panose="02020603050405020304" pitchFamily="18" charset="0"/>
              <a:sym typeface="Calibri (MS) Bold"/>
            </a:endParaRPr>
          </a:p>
        </p:txBody>
      </p:sp>
      <p:sp>
        <p:nvSpPr>
          <p:cNvPr id="5" name="TextBox 8">
            <a:extLst>
              <a:ext uri="{FF2B5EF4-FFF2-40B4-BE49-F238E27FC236}">
                <a16:creationId xmlns:a16="http://schemas.microsoft.com/office/drawing/2014/main" id="{600B6FB3-EB05-9B22-700C-A3FC8B4F16BE}"/>
              </a:ext>
            </a:extLst>
          </p:cNvPr>
          <p:cNvSpPr txBox="1"/>
          <p:nvPr/>
        </p:nvSpPr>
        <p:spPr>
          <a:xfrm>
            <a:off x="4761787" y="1670429"/>
            <a:ext cx="8764424" cy="429669"/>
          </a:xfrm>
          <a:prstGeom prst="rect">
            <a:avLst/>
          </a:prstGeom>
        </p:spPr>
        <p:txBody>
          <a:bodyPr wrap="square" lIns="0" tIns="0" rIns="0" bIns="0" rtlCol="0" anchor="t">
            <a:spAutoFit/>
          </a:bodyPr>
          <a:lstStyle/>
          <a:p>
            <a:pPr algn="ctr">
              <a:lnSpc>
                <a:spcPts val="3220"/>
              </a:lnSpc>
              <a:spcBef>
                <a:spcPct val="0"/>
              </a:spcBef>
            </a:pPr>
            <a:r>
              <a:rPr lang="en-US" sz="3600" b="1" dirty="0">
                <a:solidFill>
                  <a:srgbClr val="28306B"/>
                </a:solidFill>
                <a:latin typeface="Calibri (MS) Bold"/>
                <a:ea typeface="Calibri (MS) Bold"/>
                <a:cs typeface="Calibri (MS) Bold"/>
                <a:sym typeface="Calibri (MS) Bold"/>
              </a:rPr>
              <a:t>Bộ môn Điện Tử</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p:cNvSpPr txBox="1"/>
          <p:nvPr/>
        </p:nvSpPr>
        <p:spPr>
          <a:xfrm>
            <a:off x="1028700" y="309600"/>
            <a:ext cx="8905403" cy="1237615"/>
          </a:xfrm>
          <a:prstGeom prst="rect">
            <a:avLst/>
          </a:prstGeom>
        </p:spPr>
        <p:txBody>
          <a:bodyPr lIns="0" tIns="0" rIns="0" bIns="0" rtlCol="0" anchor="t">
            <a:spAutoFit/>
          </a:bodyPr>
          <a:lstStyle/>
          <a:p>
            <a:pPr algn="l">
              <a:lnSpc>
                <a:spcPts val="8959"/>
              </a:lnSpc>
              <a:spcBef>
                <a:spcPct val="0"/>
              </a:spcBef>
            </a:pPr>
            <a:r>
              <a:rPr lang="en-US" sz="6399" b="1">
                <a:solidFill>
                  <a:srgbClr val="042B91"/>
                </a:solidFill>
                <a:latin typeface="Calibri (MS) Bold"/>
                <a:ea typeface="Calibri (MS) Bold"/>
                <a:cs typeface="Calibri (MS) Bold"/>
                <a:sym typeface="Calibri (MS) Bold"/>
              </a:rPr>
              <a:t>Mục lục</a:t>
            </a:r>
          </a:p>
        </p:txBody>
      </p:sp>
      <p:sp>
        <p:nvSpPr>
          <p:cNvPr id="4" name="TextBox 4"/>
          <p:cNvSpPr txBox="1"/>
          <p:nvPr/>
        </p:nvSpPr>
        <p:spPr>
          <a:xfrm>
            <a:off x="17789454" y="9659082"/>
            <a:ext cx="152400" cy="190500"/>
          </a:xfrm>
          <a:prstGeom prst="rect">
            <a:avLst/>
          </a:prstGeom>
        </p:spPr>
        <p:txBody>
          <a:bodyPr wrap="none" lIns="0" tIns="0" rIns="0" bIns="0" rtlCol="0" anchor="t">
            <a:spAutoFit/>
          </a:bodyPr>
          <a:lstStyle/>
          <a:p>
            <a:pPr algn="ctr">
              <a:lnSpc>
                <a:spcPts val="3170"/>
              </a:lnSpc>
              <a:spcBef>
                <a:spcPct val="0"/>
              </a:spcBef>
            </a:pPr>
            <a:r>
              <a:rPr lang="en-US" sz="2264">
                <a:solidFill>
                  <a:srgbClr val="000000"/>
                </a:solidFill>
                <a:latin typeface="Noto Serif Display"/>
                <a:ea typeface="Noto Serif Display"/>
                <a:cs typeface="Noto Serif Display"/>
                <a:sym typeface="Noto Serif Display"/>
              </a:rPr>
              <a:t>2</a:t>
            </a:r>
          </a:p>
        </p:txBody>
      </p:sp>
      <p:sp>
        <p:nvSpPr>
          <p:cNvPr id="5" name="TextBox 5"/>
          <p:cNvSpPr txBox="1"/>
          <p:nvPr/>
        </p:nvSpPr>
        <p:spPr>
          <a:xfrm>
            <a:off x="1834029" y="1761777"/>
            <a:ext cx="14619943" cy="4852867"/>
          </a:xfrm>
          <a:prstGeom prst="rect">
            <a:avLst/>
          </a:prstGeom>
        </p:spPr>
        <p:txBody>
          <a:bodyPr lIns="0" tIns="0" rIns="0" bIns="0" rtlCol="0" anchor="t">
            <a:spAutoFit/>
          </a:bodyPr>
          <a:lstStyle/>
          <a:p>
            <a:pPr algn="l">
              <a:lnSpc>
                <a:spcPts val="7728"/>
              </a:lnSpc>
            </a:pPr>
            <a:r>
              <a:rPr lang="en-US" sz="4800" b="1" dirty="0">
                <a:solidFill>
                  <a:srgbClr val="000000"/>
                </a:solidFill>
                <a:latin typeface="Calibri (MS) Bold"/>
                <a:ea typeface="Calibri (MS) Bold"/>
                <a:cs typeface="Calibri (MS) Bold"/>
                <a:sym typeface="Calibri (MS) Bold"/>
              </a:rPr>
              <a:t>1. </a:t>
            </a:r>
            <a:r>
              <a:rPr lang="en-US" sz="4800" b="1" dirty="0" err="1">
                <a:solidFill>
                  <a:srgbClr val="000000"/>
                </a:solidFill>
                <a:latin typeface="Calibri (MS) Bold"/>
                <a:ea typeface="Calibri (MS) Bold"/>
                <a:cs typeface="Calibri (MS) Bold"/>
                <a:sym typeface="Calibri (MS) Bold"/>
              </a:rPr>
              <a:t>Tổng</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quan</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đề</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tài</a:t>
            </a:r>
            <a:endParaRPr lang="en-US" sz="4800" b="1" dirty="0">
              <a:solidFill>
                <a:srgbClr val="000000"/>
              </a:solidFill>
              <a:latin typeface="Calibri (MS) Bold"/>
              <a:ea typeface="Calibri (MS) Bold"/>
              <a:cs typeface="Calibri (MS) Bold"/>
              <a:sym typeface="Calibri (MS) Bold"/>
            </a:endParaRPr>
          </a:p>
          <a:p>
            <a:pPr algn="l">
              <a:lnSpc>
                <a:spcPts val="7728"/>
              </a:lnSpc>
            </a:pPr>
            <a:r>
              <a:rPr lang="en-US" sz="4800" b="1" dirty="0">
                <a:solidFill>
                  <a:srgbClr val="000000"/>
                </a:solidFill>
                <a:latin typeface="Calibri (MS) Bold"/>
                <a:ea typeface="Calibri (MS) Bold"/>
                <a:cs typeface="Calibri (MS) Bold"/>
                <a:sym typeface="Calibri (MS) Bold"/>
              </a:rPr>
              <a:t>2. </a:t>
            </a:r>
            <a:r>
              <a:rPr lang="en-US" sz="4800" b="1" dirty="0" err="1">
                <a:solidFill>
                  <a:srgbClr val="000000"/>
                </a:solidFill>
                <a:latin typeface="Calibri (MS) Bold"/>
                <a:ea typeface="Calibri (MS) Bold"/>
                <a:cs typeface="Calibri (MS) Bold"/>
                <a:sym typeface="Calibri (MS) Bold"/>
              </a:rPr>
              <a:t>Mô</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phỏng</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hệ</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thống</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bằng</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phần</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mềm</a:t>
            </a:r>
            <a:endParaRPr lang="en-US" sz="4800" b="1" dirty="0">
              <a:solidFill>
                <a:srgbClr val="000000"/>
              </a:solidFill>
              <a:latin typeface="Calibri (MS) Bold"/>
              <a:ea typeface="Calibri (MS) Bold"/>
              <a:cs typeface="Calibri (MS) Bold"/>
              <a:sym typeface="Calibri (MS) Bold"/>
            </a:endParaRPr>
          </a:p>
          <a:p>
            <a:pPr algn="l">
              <a:lnSpc>
                <a:spcPts val="7728"/>
              </a:lnSpc>
            </a:pPr>
            <a:r>
              <a:rPr lang="en-US" sz="4800" b="1" dirty="0">
                <a:solidFill>
                  <a:srgbClr val="000000"/>
                </a:solidFill>
                <a:latin typeface="Calibri (MS) Bold"/>
                <a:ea typeface="Calibri (MS) Bold"/>
                <a:cs typeface="Calibri (MS) Bold"/>
                <a:sym typeface="Calibri (MS) Bold"/>
              </a:rPr>
              <a:t>3. </a:t>
            </a:r>
            <a:r>
              <a:rPr lang="en-US" sz="4800" b="1" dirty="0" err="1">
                <a:solidFill>
                  <a:srgbClr val="000000"/>
                </a:solidFill>
                <a:latin typeface="Calibri (MS) Bold"/>
                <a:ea typeface="Calibri (MS) Bold"/>
                <a:cs typeface="Calibri (MS) Bold"/>
                <a:sym typeface="Calibri (MS) Bold"/>
              </a:rPr>
              <a:t>Thiết</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kế</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phần</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cứng</a:t>
            </a:r>
            <a:endParaRPr lang="en-US" sz="4800" b="1" dirty="0">
              <a:solidFill>
                <a:srgbClr val="000000"/>
              </a:solidFill>
              <a:latin typeface="Calibri (MS) Bold"/>
              <a:ea typeface="Calibri (MS) Bold"/>
              <a:cs typeface="Calibri (MS) Bold"/>
              <a:sym typeface="Calibri (MS) Bold"/>
            </a:endParaRPr>
          </a:p>
          <a:p>
            <a:pPr algn="l">
              <a:lnSpc>
                <a:spcPts val="7728"/>
              </a:lnSpc>
            </a:pPr>
            <a:r>
              <a:rPr lang="en-US" sz="4800" b="1" dirty="0">
                <a:solidFill>
                  <a:srgbClr val="000000"/>
                </a:solidFill>
                <a:latin typeface="Calibri (MS) Bold"/>
                <a:ea typeface="Calibri (MS) Bold"/>
                <a:cs typeface="Calibri (MS) Bold"/>
                <a:sym typeface="Calibri (MS) Bold"/>
              </a:rPr>
              <a:t>4. </a:t>
            </a:r>
            <a:r>
              <a:rPr lang="en-US" sz="4800" b="1" dirty="0" err="1">
                <a:solidFill>
                  <a:srgbClr val="000000"/>
                </a:solidFill>
                <a:latin typeface="Calibri (MS) Bold"/>
                <a:ea typeface="Calibri (MS) Bold"/>
                <a:cs typeface="Calibri (MS) Bold"/>
                <a:sym typeface="Calibri (MS) Bold"/>
              </a:rPr>
              <a:t>Kiểm</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định</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thiết</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kế</a:t>
            </a:r>
            <a:endParaRPr lang="en-US" sz="4800" b="1" dirty="0">
              <a:solidFill>
                <a:srgbClr val="000000"/>
              </a:solidFill>
              <a:latin typeface="Calibri (MS) Bold"/>
              <a:ea typeface="Calibri (MS) Bold"/>
              <a:cs typeface="Calibri (MS) Bold"/>
              <a:sym typeface="Calibri (MS) Bold"/>
            </a:endParaRPr>
          </a:p>
          <a:p>
            <a:pPr algn="l">
              <a:lnSpc>
                <a:spcPts val="7728"/>
              </a:lnSpc>
            </a:pPr>
            <a:r>
              <a:rPr lang="en-US" sz="4800" b="1" dirty="0">
                <a:solidFill>
                  <a:srgbClr val="000000"/>
                </a:solidFill>
                <a:latin typeface="Calibri (MS) Bold"/>
                <a:ea typeface="Calibri (MS) Bold"/>
                <a:cs typeface="Calibri (MS) Bold"/>
                <a:sym typeface="Calibri (MS) Bold"/>
              </a:rPr>
              <a:t>6. </a:t>
            </a:r>
            <a:r>
              <a:rPr lang="en-US" sz="4800" b="1" dirty="0" err="1">
                <a:solidFill>
                  <a:srgbClr val="000000"/>
                </a:solidFill>
                <a:latin typeface="Calibri (MS) Bold"/>
                <a:ea typeface="Calibri (MS) Bold"/>
                <a:cs typeface="Calibri (MS) Bold"/>
                <a:sym typeface="Calibri (MS) Bold"/>
              </a:rPr>
              <a:t>Kết</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luận</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và</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hướng</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phát</a:t>
            </a:r>
            <a:r>
              <a:rPr lang="en-US" sz="4800" b="1" dirty="0">
                <a:solidFill>
                  <a:srgbClr val="000000"/>
                </a:solidFill>
                <a:latin typeface="Calibri (MS) Bold"/>
                <a:ea typeface="Calibri (MS) Bold"/>
                <a:cs typeface="Calibri (MS) Bold"/>
                <a:sym typeface="Calibri (MS) Bold"/>
              </a:rPr>
              <a:t> </a:t>
            </a:r>
            <a:r>
              <a:rPr lang="en-US" sz="4800" b="1" dirty="0" err="1">
                <a:solidFill>
                  <a:srgbClr val="000000"/>
                </a:solidFill>
                <a:latin typeface="Calibri (MS) Bold"/>
                <a:ea typeface="Calibri (MS) Bold"/>
                <a:cs typeface="Calibri (MS) Bold"/>
                <a:sym typeface="Calibri (MS) Bold"/>
              </a:rPr>
              <a:t>triển</a:t>
            </a:r>
            <a:endParaRPr lang="en-US" sz="4800" b="1" dirty="0">
              <a:solidFill>
                <a:srgbClr val="000000"/>
              </a:solidFill>
              <a:latin typeface="Calibri (MS) Bold"/>
              <a:ea typeface="Calibri (MS) Bold"/>
              <a:cs typeface="Calibri (MS) Bold"/>
              <a:sym typeface="Calibri (MS) Bold"/>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1EE98-2482-168E-0B8B-31A816272F2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051A49-80D0-1AA4-82F9-4A1357948AFC}"/>
              </a:ext>
            </a:extLst>
          </p:cNvPr>
          <p:cNvSpPr/>
          <p:nvPr/>
        </p:nvSpPr>
        <p:spPr>
          <a:xfrm>
            <a:off x="-21336000" y="-116088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A6FECFC6-7260-D789-339B-3271A9DDB9EA}"/>
              </a:ext>
            </a:extLst>
          </p:cNvPr>
          <p:cNvSpPr txBox="1"/>
          <p:nvPr/>
        </p:nvSpPr>
        <p:spPr>
          <a:xfrm>
            <a:off x="1028700" y="309600"/>
            <a:ext cx="8905403" cy="1082284"/>
          </a:xfrm>
          <a:prstGeom prst="rect">
            <a:avLst/>
          </a:prstGeom>
        </p:spPr>
        <p:txBody>
          <a:bodyPr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1. </a:t>
            </a:r>
            <a:r>
              <a:rPr lang="en-US" sz="6399" b="1" dirty="0" err="1">
                <a:solidFill>
                  <a:srgbClr val="042B91"/>
                </a:solidFill>
                <a:latin typeface="Calibri (MS) Bold"/>
                <a:ea typeface="Calibri (MS) Bold"/>
                <a:cs typeface="Calibri (MS) Bold"/>
                <a:sym typeface="Calibri (MS) Bold"/>
              </a:rPr>
              <a:t>Tổng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quan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đề</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tài</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9DF906ED-6747-F064-7648-CD1AA0C1D64A}"/>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2050" name="Picture 2">
            <a:extLst>
              <a:ext uri="{FF2B5EF4-FFF2-40B4-BE49-F238E27FC236}">
                <a16:creationId xmlns:a16="http://schemas.microsoft.com/office/drawing/2014/main" id="{0B292FBD-6A32-D426-3CE2-D36AFA4D5A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1379942"/>
            <a:ext cx="9220200" cy="7746171"/>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F22B0DEF-432A-DEB7-354E-23E521D51E6A}"/>
              </a:ext>
            </a:extLst>
          </p:cNvPr>
          <p:cNvGrpSpPr/>
          <p:nvPr/>
        </p:nvGrpSpPr>
        <p:grpSpPr>
          <a:xfrm>
            <a:off x="11430000" y="328548"/>
            <a:ext cx="4225534" cy="4525636"/>
            <a:chOff x="11430000" y="328548"/>
            <a:chExt cx="4225534" cy="4525636"/>
          </a:xfrm>
        </p:grpSpPr>
        <p:sp>
          <p:nvSpPr>
            <p:cNvPr id="5" name="Oval 4">
              <a:extLst>
                <a:ext uri="{FF2B5EF4-FFF2-40B4-BE49-F238E27FC236}">
                  <a16:creationId xmlns:a16="http://schemas.microsoft.com/office/drawing/2014/main" id="{1A88A053-350B-2756-8B5D-DD6DFCA35C6A}"/>
                </a:ext>
              </a:extLst>
            </p:cNvPr>
            <p:cNvSpPr/>
            <p:nvPr/>
          </p:nvSpPr>
          <p:spPr>
            <a:xfrm>
              <a:off x="13868400" y="3771900"/>
              <a:ext cx="1082284" cy="108228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dirty="0"/>
            </a:p>
          </p:txBody>
        </p:sp>
        <p:sp>
          <p:nvSpPr>
            <p:cNvPr id="6" name="Speech Bubble: Rectangle with Corners Rounded 5">
              <a:extLst>
                <a:ext uri="{FF2B5EF4-FFF2-40B4-BE49-F238E27FC236}">
                  <a16:creationId xmlns:a16="http://schemas.microsoft.com/office/drawing/2014/main" id="{13A62114-9207-D4EA-E28C-9A7EA309A9BD}"/>
                </a:ext>
              </a:extLst>
            </p:cNvPr>
            <p:cNvSpPr/>
            <p:nvPr/>
          </p:nvSpPr>
          <p:spPr>
            <a:xfrm>
              <a:off x="11430000" y="328548"/>
              <a:ext cx="4225534" cy="2692558"/>
            </a:xfrm>
            <a:prstGeom prst="wedgeRoundRectCallout">
              <a:avLst>
                <a:gd name="adj1" fmla="val 21464"/>
                <a:gd name="adj2" fmla="val 77422"/>
                <a:gd name="adj3" fmla="val 16667"/>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2">
                      <a:lumMod val="50000"/>
                    </a:schemeClr>
                  </a:solidFill>
                  <a:latin typeface="Times New Roman" panose="02020603050405020304" pitchFamily="18" charset="0"/>
                  <a:cs typeface="Times New Roman" panose="02020603050405020304" pitchFamily="18" charset="0"/>
                </a:rPr>
                <a:t>Gây nghẽn cổ chai (Von Neumann Bottleneck)</a:t>
              </a:r>
              <a:endParaRPr lang="vi-VN" sz="3600" b="1" dirty="0">
                <a:solidFill>
                  <a:schemeClr val="tx2">
                    <a:lumMod val="50000"/>
                  </a:schemeClr>
                </a:solidFill>
                <a:latin typeface="Times New Roman" panose="02020603050405020304" pitchFamily="18" charset="0"/>
                <a:cs typeface="Times New Roman" panose="02020603050405020304" pitchFamily="18" charset="0"/>
              </a:endParaRPr>
            </a:p>
          </p:txBody>
        </p:sp>
      </p:grpSp>
      <p:sp>
        <p:nvSpPr>
          <p:cNvPr id="10" name="Rectangle 1">
            <a:extLst>
              <a:ext uri="{FF2B5EF4-FFF2-40B4-BE49-F238E27FC236}">
                <a16:creationId xmlns:a16="http://schemas.microsoft.com/office/drawing/2014/main" id="{F94A6292-333F-8C32-649F-D3C7EAA870AF}"/>
              </a:ext>
            </a:extLst>
          </p:cNvPr>
          <p:cNvSpPr>
            <a:spLocks noChangeArrowheads="1"/>
          </p:cNvSpPr>
          <p:nvPr/>
        </p:nvSpPr>
        <p:spPr bwMode="auto">
          <a:xfrm>
            <a:off x="1143000" y="1562100"/>
            <a:ext cx="723900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sz="4000" b="1" dirty="0">
                <a:latin typeface="Arial" panose="020B0604020202020204" pitchFamily="34" charset="0"/>
              </a:rPr>
              <a:t>- Nghẽn </a:t>
            </a:r>
            <a:r>
              <a:rPr lang="en-US" altLang="en-US" sz="4000" b="1" dirty="0" err="1">
                <a:latin typeface="Arial" panose="020B0604020202020204" pitchFamily="34" charset="0"/>
              </a:rPr>
              <a:t>băng</a:t>
            </a:r>
            <a:r>
              <a:rPr lang="en-US" altLang="en-US" sz="4000" b="1" dirty="0">
                <a:latin typeface="Arial" panose="020B0604020202020204" pitchFamily="34" charset="0"/>
              </a:rPr>
              <a:t> </a:t>
            </a:r>
            <a:r>
              <a:rPr lang="en-US" altLang="en-US" sz="4000" b="1" dirty="0" err="1">
                <a:latin typeface="Arial" panose="020B0604020202020204" pitchFamily="34" charset="0"/>
              </a:rPr>
              <a:t>thông</a:t>
            </a:r>
            <a:r>
              <a:rPr lang="en-US" altLang="en-US" sz="4000" b="1" dirty="0">
                <a:latin typeface="Arial" panose="020B0604020202020204" pitchFamily="34" charset="0"/>
              </a:rPr>
              <a:t>:</a:t>
            </a:r>
            <a:r>
              <a:rPr lang="en-US" altLang="en-US" sz="4000" dirty="0">
                <a:latin typeface="Arial" panose="020B0604020202020204" pitchFamily="34" charset="0"/>
              </a:rPr>
              <a:t> </a:t>
            </a:r>
            <a:r>
              <a:rPr lang="en-US" altLang="en-US" sz="4000" dirty="0" err="1">
                <a:latin typeface="Arial" panose="020B0604020202020204" pitchFamily="34" charset="0"/>
              </a:rPr>
              <a:t>Đường</a:t>
            </a:r>
            <a:r>
              <a:rPr lang="en-US" altLang="en-US" sz="4000" dirty="0">
                <a:latin typeface="Arial" panose="020B0604020202020204" pitchFamily="34" charset="0"/>
              </a:rPr>
              <a:t> </a:t>
            </a:r>
            <a:r>
              <a:rPr lang="en-US" altLang="en-US" sz="4000" dirty="0" err="1">
                <a:latin typeface="Arial" panose="020B0604020202020204" pitchFamily="34" charset="0"/>
              </a:rPr>
              <a:t>truyền</a:t>
            </a:r>
            <a:r>
              <a:rPr lang="en-US" altLang="en-US" sz="4000" dirty="0">
                <a:latin typeface="Arial" panose="020B0604020202020204" pitchFamily="34" charset="0"/>
              </a:rPr>
              <a:t> </a:t>
            </a:r>
            <a:r>
              <a:rPr lang="en-US" altLang="en-US" sz="4000" dirty="0" err="1">
                <a:latin typeface="Arial" panose="020B0604020202020204" pitchFamily="34" charset="0"/>
              </a:rPr>
              <a:t>giữa</a:t>
            </a:r>
            <a:r>
              <a:rPr lang="en-US" altLang="en-US" sz="4000" dirty="0">
                <a:latin typeface="Arial" panose="020B0604020202020204" pitchFamily="34" charset="0"/>
              </a:rPr>
              <a:t> CPU </a:t>
            </a:r>
            <a:r>
              <a:rPr lang="en-US" altLang="en-US" sz="4000" dirty="0" err="1">
                <a:latin typeface="Arial" panose="020B0604020202020204" pitchFamily="34" charset="0"/>
              </a:rPr>
              <a:t>và</a:t>
            </a:r>
            <a:r>
              <a:rPr lang="en-US" altLang="en-US" sz="4000" dirty="0">
                <a:latin typeface="Arial" panose="020B0604020202020204" pitchFamily="34" charset="0"/>
              </a:rPr>
              <a:t> RAM </a:t>
            </a:r>
            <a:r>
              <a:rPr lang="en-US" altLang="en-US" sz="4000" dirty="0" err="1">
                <a:latin typeface="Arial" panose="020B0604020202020204" pitchFamily="34" charset="0"/>
              </a:rPr>
              <a:t>bị</a:t>
            </a:r>
            <a:r>
              <a:rPr lang="en-US" altLang="en-US" sz="4000" dirty="0">
                <a:latin typeface="Arial" panose="020B0604020202020204" pitchFamily="34" charset="0"/>
              </a:rPr>
              <a:t> </a:t>
            </a:r>
            <a:r>
              <a:rPr lang="en-US" altLang="en-US" sz="4000" dirty="0" err="1">
                <a:latin typeface="Arial" panose="020B0604020202020204" pitchFamily="34" charset="0"/>
              </a:rPr>
              <a:t>tắc</a:t>
            </a:r>
            <a:r>
              <a:rPr lang="en-US" altLang="en-US" sz="4000" dirty="0">
                <a:latin typeface="Arial" panose="020B0604020202020204" pitchFamily="34" charset="0"/>
              </a:rPr>
              <a:t> nghẽn </a:t>
            </a:r>
            <a:r>
              <a:rPr lang="en-US" altLang="en-US" sz="4000" dirty="0" err="1">
                <a:latin typeface="Arial" panose="020B0604020202020204" pitchFamily="34" charset="0"/>
              </a:rPr>
              <a:t>khi</a:t>
            </a:r>
            <a:r>
              <a:rPr lang="en-US" altLang="en-US" sz="4000" dirty="0">
                <a:latin typeface="Arial" panose="020B0604020202020204" pitchFamily="34" charset="0"/>
              </a:rPr>
              <a:t> </a:t>
            </a:r>
            <a:r>
              <a:rPr lang="en-US" altLang="en-US" sz="4000" dirty="0" err="1">
                <a:latin typeface="Arial" panose="020B0604020202020204" pitchFamily="34" charset="0"/>
              </a:rPr>
              <a:t>dữ</a:t>
            </a:r>
            <a:r>
              <a:rPr lang="en-US" altLang="en-US" sz="4000" dirty="0">
                <a:latin typeface="Arial" panose="020B0604020202020204" pitchFamily="34" charset="0"/>
              </a:rPr>
              <a:t> </a:t>
            </a:r>
            <a:r>
              <a:rPr lang="en-US" altLang="en-US" sz="4000" dirty="0" err="1">
                <a:latin typeface="Arial" panose="020B0604020202020204" pitchFamily="34" charset="0"/>
              </a:rPr>
              <a:t>liệu</a:t>
            </a:r>
            <a:r>
              <a:rPr lang="en-US" altLang="en-US" sz="4000" dirty="0">
                <a:latin typeface="Arial" panose="020B0604020202020204" pitchFamily="34" charset="0"/>
              </a:rPr>
              <a:t> </a:t>
            </a:r>
            <a:r>
              <a:rPr lang="en-US" altLang="en-US" sz="4000" dirty="0" err="1">
                <a:latin typeface="Arial" panose="020B0604020202020204" pitchFamily="34" charset="0"/>
              </a:rPr>
              <a:t>quá</a:t>
            </a:r>
            <a:r>
              <a:rPr lang="en-US" altLang="en-US" sz="4000" dirty="0">
                <a:latin typeface="Arial" panose="020B0604020202020204" pitchFamily="34" charset="0"/>
              </a:rPr>
              <a:t> </a:t>
            </a:r>
            <a:r>
              <a:rPr lang="en-US" altLang="en-US" sz="4000" dirty="0" err="1">
                <a:latin typeface="Arial" panose="020B0604020202020204" pitchFamily="34" charset="0"/>
              </a:rPr>
              <a:t>lớn</a:t>
            </a:r>
            <a:r>
              <a:rPr lang="en-US" altLang="en-US" sz="4000" dirty="0">
                <a:latin typeface="Arial" panose="020B0604020202020204" pitchFamily="34" charset="0"/>
              </a:rPr>
              <a:t> (GB/TB).</a:t>
            </a:r>
          </a:p>
          <a:p>
            <a:pPr lvl="0" eaLnBrk="0" fontAlgn="base" hangingPunct="0">
              <a:spcBef>
                <a:spcPct val="0"/>
              </a:spcBef>
              <a:spcAft>
                <a:spcPct val="0"/>
              </a:spcAft>
            </a:pPr>
            <a:endParaRPr lang="en-US" altLang="en-US" sz="4000" dirty="0">
              <a:latin typeface="Arial" panose="020B0604020202020204" pitchFamily="34" charset="0"/>
            </a:endParaRPr>
          </a:p>
          <a:p>
            <a:pPr lvl="0" eaLnBrk="0" fontAlgn="base" hangingPunct="0">
              <a:spcBef>
                <a:spcPct val="0"/>
              </a:spcBef>
              <a:spcAft>
                <a:spcPct val="0"/>
              </a:spcAft>
            </a:pPr>
            <a:r>
              <a:rPr lang="en-US" altLang="en-US" sz="4000" b="1" dirty="0">
                <a:latin typeface="Arial" panose="020B0604020202020204" pitchFamily="34" charset="0"/>
              </a:rPr>
              <a:t>- </a:t>
            </a:r>
            <a:r>
              <a:rPr lang="en-US" altLang="en-US" sz="4000" b="1" dirty="0" err="1">
                <a:latin typeface="Arial" panose="020B0604020202020204" pitchFamily="34" charset="0"/>
              </a:rPr>
              <a:t>Lãng</a:t>
            </a:r>
            <a:r>
              <a:rPr lang="en-US" altLang="en-US" sz="4000" b="1" dirty="0">
                <a:latin typeface="Arial" panose="020B0604020202020204" pitchFamily="34" charset="0"/>
              </a:rPr>
              <a:t> </a:t>
            </a:r>
            <a:r>
              <a:rPr lang="en-US" altLang="en-US" sz="4000" b="1" dirty="0" err="1">
                <a:latin typeface="Arial" panose="020B0604020202020204" pitchFamily="34" charset="0"/>
              </a:rPr>
              <a:t>phí</a:t>
            </a:r>
            <a:r>
              <a:rPr lang="en-US" altLang="en-US" sz="4000" b="1" dirty="0">
                <a:latin typeface="Arial" panose="020B0604020202020204" pitchFamily="34" charset="0"/>
              </a:rPr>
              <a:t> </a:t>
            </a:r>
            <a:r>
              <a:rPr lang="en-US" altLang="en-US" sz="4000" b="1" dirty="0" err="1">
                <a:latin typeface="Arial" panose="020B0604020202020204" pitchFamily="34" charset="0"/>
              </a:rPr>
              <a:t>năng</a:t>
            </a:r>
            <a:r>
              <a:rPr lang="en-US" altLang="en-US" sz="4000" b="1" dirty="0">
                <a:latin typeface="Arial" panose="020B0604020202020204" pitchFamily="34" charset="0"/>
              </a:rPr>
              <a:t> </a:t>
            </a:r>
            <a:r>
              <a:rPr lang="en-US" altLang="en-US" sz="4000" b="1" dirty="0" err="1">
                <a:latin typeface="Arial" panose="020B0604020202020204" pitchFamily="34" charset="0"/>
              </a:rPr>
              <a:t>lượng</a:t>
            </a:r>
            <a:r>
              <a:rPr lang="en-US" altLang="en-US" sz="4000" b="1" dirty="0">
                <a:latin typeface="Arial" panose="020B0604020202020204" pitchFamily="34" charset="0"/>
              </a:rPr>
              <a:t>:</a:t>
            </a:r>
            <a:r>
              <a:rPr lang="en-US" altLang="en-US" sz="4000" dirty="0">
                <a:latin typeface="Arial" panose="020B0604020202020204" pitchFamily="34" charset="0"/>
              </a:rPr>
              <a:t> </a:t>
            </a:r>
            <a:r>
              <a:rPr lang="en-US" altLang="en-US" sz="4000" dirty="0" err="1">
                <a:latin typeface="Arial" panose="020B0604020202020204" pitchFamily="34" charset="0"/>
              </a:rPr>
              <a:t>Việc</a:t>
            </a:r>
            <a:r>
              <a:rPr lang="en-US" altLang="en-US" sz="4000" dirty="0">
                <a:latin typeface="Arial" panose="020B0604020202020204" pitchFamily="34" charset="0"/>
              </a:rPr>
              <a:t> di </a:t>
            </a:r>
            <a:r>
              <a:rPr lang="en-US" altLang="en-US" sz="4000" dirty="0" err="1">
                <a:latin typeface="Arial" panose="020B0604020202020204" pitchFamily="34" charset="0"/>
              </a:rPr>
              <a:t>chuyển</a:t>
            </a:r>
            <a:r>
              <a:rPr lang="en-US" altLang="en-US" sz="4000" dirty="0">
                <a:latin typeface="Arial" panose="020B0604020202020204" pitchFamily="34" charset="0"/>
              </a:rPr>
              <a:t> </a:t>
            </a:r>
            <a:r>
              <a:rPr lang="en-US" altLang="en-US" sz="4000" dirty="0" err="1">
                <a:latin typeface="Arial" panose="020B0604020202020204" pitchFamily="34" charset="0"/>
              </a:rPr>
              <a:t>dữ</a:t>
            </a:r>
            <a:r>
              <a:rPr lang="en-US" altLang="en-US" sz="4000" dirty="0">
                <a:latin typeface="Arial" panose="020B0604020202020204" pitchFamily="34" charset="0"/>
              </a:rPr>
              <a:t> </a:t>
            </a:r>
            <a:r>
              <a:rPr lang="en-US" altLang="en-US" sz="4000" dirty="0" err="1">
                <a:latin typeface="Arial" panose="020B0604020202020204" pitchFamily="34" charset="0"/>
              </a:rPr>
              <a:t>liệu</a:t>
            </a:r>
            <a:r>
              <a:rPr lang="en-US" altLang="en-US" sz="4000" dirty="0">
                <a:latin typeface="Arial" panose="020B0604020202020204" pitchFamily="34" charset="0"/>
              </a:rPr>
              <a:t> </a:t>
            </a:r>
            <a:r>
              <a:rPr lang="en-US" altLang="en-US" sz="4000" dirty="0" err="1">
                <a:latin typeface="Arial" panose="020B0604020202020204" pitchFamily="34" charset="0"/>
              </a:rPr>
              <a:t>tiêu</a:t>
            </a:r>
            <a:r>
              <a:rPr lang="en-US" altLang="en-US" sz="4000" dirty="0">
                <a:latin typeface="Arial" panose="020B0604020202020204" pitchFamily="34" charset="0"/>
              </a:rPr>
              <a:t> </a:t>
            </a:r>
            <a:r>
              <a:rPr lang="en-US" altLang="en-US" sz="4000" dirty="0" err="1">
                <a:latin typeface="Arial" panose="020B0604020202020204" pitchFamily="34" charset="0"/>
              </a:rPr>
              <a:t>tốn</a:t>
            </a:r>
            <a:r>
              <a:rPr lang="en-US" altLang="en-US" sz="4000" dirty="0">
                <a:latin typeface="Arial" panose="020B0604020202020204" pitchFamily="34" charset="0"/>
              </a:rPr>
              <a:t> </a:t>
            </a:r>
            <a:r>
              <a:rPr lang="en-US" altLang="en-US" sz="4000" dirty="0" err="1">
                <a:latin typeface="Arial" panose="020B0604020202020204" pitchFamily="34" charset="0"/>
              </a:rPr>
              <a:t>năng</a:t>
            </a:r>
            <a:r>
              <a:rPr lang="en-US" altLang="en-US" sz="4000" dirty="0">
                <a:latin typeface="Arial" panose="020B0604020202020204" pitchFamily="34" charset="0"/>
              </a:rPr>
              <a:t> </a:t>
            </a:r>
            <a:r>
              <a:rPr lang="en-US" altLang="en-US" sz="4000" dirty="0" err="1">
                <a:latin typeface="Arial" panose="020B0604020202020204" pitchFamily="34" charset="0"/>
              </a:rPr>
              <a:t>lượng</a:t>
            </a:r>
            <a:r>
              <a:rPr lang="en-US" altLang="en-US" sz="4000" dirty="0">
                <a:latin typeface="Arial" panose="020B0604020202020204" pitchFamily="34" charset="0"/>
              </a:rPr>
              <a:t> </a:t>
            </a:r>
            <a:r>
              <a:rPr lang="en-US" altLang="en-US" sz="4000" dirty="0" err="1">
                <a:latin typeface="Arial" panose="020B0604020202020204" pitchFamily="34" charset="0"/>
              </a:rPr>
              <a:t>gấp</a:t>
            </a:r>
            <a:r>
              <a:rPr lang="en-US" altLang="en-US" sz="4000" dirty="0">
                <a:latin typeface="Arial" panose="020B0604020202020204" pitchFamily="34" charset="0"/>
              </a:rPr>
              <a:t> </a:t>
            </a:r>
            <a:r>
              <a:rPr lang="en-US" altLang="en-US" sz="4000" dirty="0" err="1">
                <a:latin typeface="Arial" panose="020B0604020202020204" pitchFamily="34" charset="0"/>
              </a:rPr>
              <a:t>hàng</a:t>
            </a:r>
            <a:r>
              <a:rPr lang="en-US" altLang="en-US" sz="4000" dirty="0">
                <a:latin typeface="Arial" panose="020B0604020202020204" pitchFamily="34" charset="0"/>
              </a:rPr>
              <a:t> </a:t>
            </a:r>
            <a:r>
              <a:rPr lang="en-US" altLang="en-US" sz="4000" dirty="0" err="1">
                <a:latin typeface="Arial" panose="020B0604020202020204" pitchFamily="34" charset="0"/>
              </a:rPr>
              <a:t>trăm</a:t>
            </a:r>
            <a:r>
              <a:rPr lang="en-US" altLang="en-US" sz="4000" dirty="0">
                <a:latin typeface="Arial" panose="020B0604020202020204" pitchFamily="34" charset="0"/>
              </a:rPr>
              <a:t> </a:t>
            </a:r>
            <a:r>
              <a:rPr lang="en-US" altLang="en-US" sz="4000" dirty="0" err="1">
                <a:latin typeface="Arial" panose="020B0604020202020204" pitchFamily="34" charset="0"/>
              </a:rPr>
              <a:t>lần</a:t>
            </a:r>
            <a:r>
              <a:rPr lang="en-US" altLang="en-US" sz="4000" dirty="0">
                <a:latin typeface="Arial" panose="020B0604020202020204" pitchFamily="34" charset="0"/>
              </a:rPr>
              <a:t> so </a:t>
            </a:r>
            <a:r>
              <a:rPr lang="en-US" altLang="en-US" sz="4000" dirty="0" err="1">
                <a:latin typeface="Arial" panose="020B0604020202020204" pitchFamily="34" charset="0"/>
              </a:rPr>
              <a:t>với</a:t>
            </a:r>
            <a:r>
              <a:rPr lang="en-US" altLang="en-US" sz="4000" dirty="0">
                <a:latin typeface="Arial" panose="020B0604020202020204" pitchFamily="34" charset="0"/>
              </a:rPr>
              <a:t> </a:t>
            </a:r>
            <a:r>
              <a:rPr lang="en-US" altLang="en-US" sz="4000" dirty="0" err="1">
                <a:latin typeface="Arial" panose="020B0604020202020204" pitchFamily="34" charset="0"/>
              </a:rPr>
              <a:t>việc</a:t>
            </a:r>
            <a:r>
              <a:rPr lang="en-US" altLang="en-US" sz="4000" dirty="0">
                <a:latin typeface="Arial" panose="020B0604020202020204" pitchFamily="34" charset="0"/>
              </a:rPr>
              <a:t> </a:t>
            </a:r>
            <a:r>
              <a:rPr lang="en-US" altLang="en-US" sz="4000" dirty="0" err="1">
                <a:latin typeface="Arial" panose="020B0604020202020204" pitchFamily="34" charset="0"/>
              </a:rPr>
              <a:t>thực</a:t>
            </a:r>
            <a:r>
              <a:rPr lang="en-US" altLang="en-US" sz="4000" dirty="0">
                <a:latin typeface="Arial" panose="020B0604020202020204" pitchFamily="34" charset="0"/>
              </a:rPr>
              <a:t> </a:t>
            </a:r>
            <a:r>
              <a:rPr lang="en-US" altLang="en-US" sz="4000" dirty="0" err="1">
                <a:latin typeface="Arial" panose="020B0604020202020204" pitchFamily="34" charset="0"/>
              </a:rPr>
              <a:t>hiện</a:t>
            </a:r>
            <a:r>
              <a:rPr lang="en-US" altLang="en-US" sz="4000" dirty="0">
                <a:latin typeface="Arial" panose="020B0604020202020204" pitchFamily="34" charset="0"/>
              </a:rPr>
              <a:t> </a:t>
            </a:r>
            <a:r>
              <a:rPr lang="en-US" altLang="en-US" sz="4000" dirty="0" err="1">
                <a:latin typeface="Arial" panose="020B0604020202020204" pitchFamily="34" charset="0"/>
              </a:rPr>
              <a:t>phép</a:t>
            </a:r>
            <a:r>
              <a:rPr lang="en-US" altLang="en-US" sz="4000" dirty="0">
                <a:latin typeface="Arial" panose="020B0604020202020204" pitchFamily="34" charset="0"/>
              </a:rPr>
              <a:t> </a:t>
            </a:r>
            <a:r>
              <a:rPr lang="en-US" altLang="en-US" sz="4000" dirty="0" err="1">
                <a:latin typeface="Arial" panose="020B0604020202020204" pitchFamily="34" charset="0"/>
              </a:rPr>
              <a:t>tính</a:t>
            </a:r>
            <a:r>
              <a:rPr lang="en-US" altLang="en-US" sz="4000" dirty="0">
                <a:latin typeface="Arial" panose="020B0604020202020204" pitchFamily="34" charset="0"/>
              </a:rPr>
              <a:t> </a:t>
            </a:r>
            <a:r>
              <a:rPr lang="en-US" altLang="en-US" sz="4000" dirty="0" err="1">
                <a:latin typeface="Arial" panose="020B0604020202020204" pitchFamily="34" charset="0"/>
              </a:rPr>
              <a:t>toán</a:t>
            </a:r>
            <a:r>
              <a:rPr lang="en-US" altLang="en-US" sz="4000" dirty="0">
                <a:latin typeface="Arial" panose="020B0604020202020204" pitchFamily="34" charset="0"/>
              </a:rPr>
              <a:t> </a:t>
            </a:r>
            <a:r>
              <a:rPr lang="en-US" altLang="en-US" sz="4000" dirty="0" err="1">
                <a:latin typeface="Arial" panose="020B0604020202020204" pitchFamily="34" charset="0"/>
              </a:rPr>
              <a:t>trên</a:t>
            </a:r>
            <a:r>
              <a:rPr lang="en-US" altLang="en-US" sz="4000" dirty="0">
                <a:latin typeface="Arial" panose="020B0604020202020204" pitchFamily="34" charset="0"/>
              </a:rPr>
              <a:t> </a:t>
            </a:r>
            <a:r>
              <a:rPr lang="en-US" altLang="en-US" sz="4000" dirty="0" err="1">
                <a:latin typeface="Arial" panose="020B0604020202020204" pitchFamily="34" charset="0"/>
              </a:rPr>
              <a:t>chính</a:t>
            </a:r>
            <a:r>
              <a:rPr lang="en-US" altLang="en-US" sz="4000" dirty="0">
                <a:latin typeface="Arial" panose="020B0604020202020204" pitchFamily="34" charset="0"/>
              </a:rPr>
              <a:t> </a:t>
            </a:r>
            <a:r>
              <a:rPr lang="en-US" altLang="en-US" sz="4000" dirty="0" err="1">
                <a:latin typeface="Arial" panose="020B0604020202020204" pitchFamily="34" charset="0"/>
              </a:rPr>
              <a:t>dữ</a:t>
            </a:r>
            <a:r>
              <a:rPr lang="en-US" altLang="en-US" sz="4000" dirty="0">
                <a:latin typeface="Arial" panose="020B0604020202020204" pitchFamily="34" charset="0"/>
              </a:rPr>
              <a:t> </a:t>
            </a:r>
            <a:r>
              <a:rPr lang="en-US" altLang="en-US" sz="4000" dirty="0" err="1">
                <a:latin typeface="Arial" panose="020B0604020202020204" pitchFamily="34" charset="0"/>
              </a:rPr>
              <a:t>liệu</a:t>
            </a:r>
            <a:r>
              <a:rPr lang="en-US" altLang="en-US" sz="4000" dirty="0">
                <a:latin typeface="Arial" panose="020B0604020202020204" pitchFamily="34" charset="0"/>
              </a:rPr>
              <a:t> </a:t>
            </a:r>
            <a:r>
              <a:rPr lang="en-US" altLang="en-US" sz="4000" dirty="0" err="1">
                <a:latin typeface="Arial" panose="020B0604020202020204" pitchFamily="34" charset="0"/>
              </a:rPr>
              <a:t>đó</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2361665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additive="base">
                                        <p:cTn id="10" dur="500" fill="hold"/>
                                        <p:tgtEl>
                                          <p:spTgt spid="10"/>
                                        </p:tgtEl>
                                        <p:attrNameLst>
                                          <p:attrName>ppt_x</p:attrName>
                                        </p:attrNameLst>
                                      </p:cBhvr>
                                      <p:tavLst>
                                        <p:tav tm="0">
                                          <p:val>
                                            <p:strVal val="#ppt_x"/>
                                          </p:val>
                                        </p:tav>
                                        <p:tav tm="100000">
                                          <p:val>
                                            <p:strVal val="#ppt_x"/>
                                          </p:val>
                                        </p:tav>
                                      </p:tavLst>
                                    </p:anim>
                                    <p:anim calcmode="lin" valueType="num">
                                      <p:cBhvr additive="base">
                                        <p:cTn id="1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1FAEF-5765-ABE3-817A-3ED6C640B5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58763D4-C8B8-ACDF-387E-4186C6457DB7}"/>
              </a:ext>
            </a:extLst>
          </p:cNvPr>
          <p:cNvSpPr/>
          <p:nvPr/>
        </p:nvSpPr>
        <p:spPr>
          <a:xfrm>
            <a:off x="381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19DB6830-3AF2-A853-BF7D-9C44DFE4C070}"/>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2. </a:t>
            </a:r>
            <a:r>
              <a:rPr lang="en-US" sz="6399" b="1" dirty="0" err="1">
                <a:solidFill>
                  <a:srgbClr val="042B91"/>
                </a:solidFill>
                <a:latin typeface="Calibri (MS) Bold"/>
                <a:ea typeface="Calibri (MS) Bold"/>
                <a:cs typeface="Calibri (MS) Bold"/>
                <a:sym typeface="Calibri (MS) Bold"/>
              </a:rPr>
              <a:t>Mô</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phỏng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bằng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mềm</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0B1F87B8-F9DA-8D99-F5CD-139D99AB62EA}"/>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12" name="Picture 11">
            <a:extLst>
              <a:ext uri="{FF2B5EF4-FFF2-40B4-BE49-F238E27FC236}">
                <a16:creationId xmlns:a16="http://schemas.microsoft.com/office/drawing/2014/main" id="{6E357A21-87F1-AFF8-7A95-1BCB6D0E9E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819225"/>
            <a:ext cx="5419390" cy="8129907"/>
          </a:xfrm>
          <a:prstGeom prst="rect">
            <a:avLst/>
          </a:prstGeom>
        </p:spPr>
      </p:pic>
    </p:spTree>
    <p:extLst>
      <p:ext uri="{BB962C8B-B14F-4D97-AF65-F5344CB8AC3E}">
        <p14:creationId xmlns:p14="http://schemas.microsoft.com/office/powerpoint/2010/main" val="249577473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4ECA1-EF1D-D00F-B0F8-CDF873B3774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FFB3C64-5D21-CC4B-AB61-41593CCDF80A}"/>
              </a:ext>
            </a:extLst>
          </p:cNvPr>
          <p:cNvSpPr/>
          <p:nvPr/>
        </p:nvSpPr>
        <p:spPr>
          <a:xfrm>
            <a:off x="381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ADBC573D-8590-020A-8FF2-4C8A08BD8C58}"/>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2. </a:t>
            </a:r>
            <a:r>
              <a:rPr lang="en-US" sz="6399" b="1" dirty="0" err="1">
                <a:solidFill>
                  <a:srgbClr val="042B91"/>
                </a:solidFill>
                <a:latin typeface="Calibri (MS) Bold"/>
                <a:ea typeface="Calibri (MS) Bold"/>
                <a:cs typeface="Calibri (MS) Bold"/>
                <a:sym typeface="Calibri (MS) Bold"/>
              </a:rPr>
              <a:t>Mô</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phỏng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bằng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mềm</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FED33345-0FDD-A345-3BDE-55A6AF02FD8B}"/>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sp>
        <p:nvSpPr>
          <p:cNvPr id="8" name="TextBox 7">
            <a:extLst>
              <a:ext uri="{FF2B5EF4-FFF2-40B4-BE49-F238E27FC236}">
                <a16:creationId xmlns:a16="http://schemas.microsoft.com/office/drawing/2014/main" id="{0AAEC124-5C47-ED19-8EF6-FCB8731B24E2}"/>
              </a:ext>
            </a:extLst>
          </p:cNvPr>
          <p:cNvSpPr txBox="1"/>
          <p:nvPr/>
        </p:nvSpPr>
        <p:spPr>
          <a:xfrm>
            <a:off x="1028700" y="2476500"/>
            <a:ext cx="13106400" cy="5016758"/>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IndexType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C_Framework_RTL</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P_Partition_Iterative</a:t>
            </a:r>
            <a:r>
              <a:rPr lang="en-US" sz="2000" b="1" dirty="0">
                <a:latin typeface="Times New Roman" panose="02020603050405020304" pitchFamily="18" charset="0"/>
                <a:cs typeface="Times New Roman" panose="02020603050405020304" pitchFamily="18" charset="0"/>
              </a:rPr>
              <a:t>(std::vector&lt;SIZE_ARR_T&gt;&amp; </a:t>
            </a:r>
            <a:r>
              <a:rPr lang="en-US" sz="2000" b="1" dirty="0" err="1">
                <a:latin typeface="Times New Roman" panose="02020603050405020304" pitchFamily="18" charset="0"/>
                <a:cs typeface="Times New Roman" panose="02020603050405020304" pitchFamily="18" charset="0"/>
              </a:rPr>
              <a:t>arr</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IndexType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IndexType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ei</a:t>
            </a:r>
            <a:r>
              <a:rPr lang="en-US" sz="2000" b="1" dirty="0">
                <a:latin typeface="Times New Roman" panose="02020603050405020304" pitchFamily="18" charset="0"/>
                <a:cs typeface="Times New Roman" panose="02020603050405020304" pitchFamily="18" charset="0"/>
              </a:rPr>
              <a:t>, SIZE_TYPE_T </a:t>
            </a:r>
            <a:r>
              <a:rPr lang="en-US" sz="2000" b="1" dirty="0" err="1">
                <a:latin typeface="Times New Roman" panose="02020603050405020304" pitchFamily="18" charset="0"/>
                <a:cs typeface="Times New Roman" panose="02020603050405020304" pitchFamily="18" charset="0"/>
              </a:rPr>
              <a:t>mean_value</a:t>
            </a:r>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IndexType</a:t>
            </a:r>
            <a:r>
              <a:rPr lang="en-US" sz="2000" b="1" dirty="0">
                <a:latin typeface="Times New Roman" panose="02020603050405020304" pitchFamily="18" charset="0"/>
                <a:cs typeface="Times New Roman" panose="02020603050405020304" pitchFamily="18" charset="0"/>
              </a:rPr>
              <a:t> pi = </a:t>
            </a:r>
            <a:r>
              <a:rPr lang="en-US" sz="2000" b="1" dirty="0" err="1">
                <a:latin typeface="Times New Roman" panose="02020603050405020304" pitchFamily="18" charset="0"/>
                <a:cs typeface="Times New Roman" panose="02020603050405020304" pitchFamily="18" charset="0"/>
              </a:rPr>
              <a:t>si</a:t>
            </a:r>
            <a:r>
              <a:rPr lang="en-US" sz="2000" b="1"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		SIZE_ARR_T </a:t>
            </a:r>
            <a:r>
              <a:rPr lang="en-US" sz="2000" b="1" dirty="0" err="1">
                <a:latin typeface="Times New Roman" panose="02020603050405020304" pitchFamily="18" charset="0"/>
                <a:cs typeface="Times New Roman" panose="02020603050405020304" pitchFamily="18" charset="0"/>
              </a:rPr>
              <a:t>temp_a</a:t>
            </a:r>
            <a:r>
              <a:rPr lang="en-US" sz="2000" b="1" dirty="0">
                <a:latin typeface="Times New Roman" panose="02020603050405020304" pitchFamily="18" charset="0"/>
                <a:cs typeface="Times New Roman" panose="02020603050405020304" pitchFamily="18" charset="0"/>
              </a:rPr>
              <a:t> = 0;</a:t>
            </a:r>
          </a:p>
          <a:p>
            <a:r>
              <a:rPr lang="en-US" sz="2000" b="1" dirty="0">
                <a:latin typeface="Times New Roman" panose="02020603050405020304" pitchFamily="18" charset="0"/>
                <a:cs typeface="Times New Roman" panose="02020603050405020304" pitchFamily="18" charset="0"/>
              </a:rPr>
              <a:t>		SIZE_ARR_T </a:t>
            </a:r>
            <a:r>
              <a:rPr lang="en-US" sz="2000" b="1" dirty="0" err="1">
                <a:latin typeface="Times New Roman" panose="02020603050405020304" pitchFamily="18" charset="0"/>
                <a:cs typeface="Times New Roman" panose="02020603050405020304" pitchFamily="18" charset="0"/>
              </a:rPr>
              <a:t>temp_pi</a:t>
            </a:r>
            <a:r>
              <a:rPr lang="en-US" sz="2000" b="1" dirty="0">
                <a:latin typeface="Times New Roman" panose="02020603050405020304" pitchFamily="18" charset="0"/>
                <a:cs typeface="Times New Roman" panose="02020603050405020304" pitchFamily="18" charset="0"/>
              </a:rPr>
              <a:t> = 0;</a:t>
            </a:r>
          </a:p>
          <a:p>
            <a:r>
              <a:rPr lang="en-US" sz="2000" b="1" dirty="0">
                <a:latin typeface="Times New Roman" panose="02020603050405020304" pitchFamily="18" charset="0"/>
                <a:cs typeface="Times New Roman" panose="02020603050405020304" pitchFamily="18" charset="0"/>
              </a:rPr>
              <a:t>		for (</a:t>
            </a:r>
            <a:r>
              <a:rPr lang="en-US" sz="2000" b="1" dirty="0" err="1">
                <a:latin typeface="Times New Roman" panose="02020603050405020304" pitchFamily="18" charset="0"/>
                <a:cs typeface="Times New Roman" panose="02020603050405020304" pitchFamily="18" charset="0"/>
              </a:rPr>
              <a:t>IndexType</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si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 &lt;= </a:t>
            </a:r>
            <a:r>
              <a:rPr lang="en-US" sz="2000" b="1" dirty="0" err="1">
                <a:latin typeface="Times New Roman" panose="02020603050405020304" pitchFamily="18" charset="0"/>
                <a:cs typeface="Times New Roman" panose="02020603050405020304" pitchFamily="18" charset="0"/>
              </a:rPr>
              <a:t>ei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temp_a</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arr</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temp_pi</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arr</a:t>
            </a:r>
            <a:r>
              <a:rPr lang="en-US" sz="2000" b="1" dirty="0">
                <a:latin typeface="Times New Roman" panose="02020603050405020304" pitchFamily="18" charset="0"/>
                <a:cs typeface="Times New Roman" panose="02020603050405020304" pitchFamily="18" charset="0"/>
              </a:rPr>
              <a:t>[pi];</a:t>
            </a:r>
          </a:p>
          <a:p>
            <a:r>
              <a:rPr lang="en-US" sz="2000" b="1" dirty="0">
                <a:latin typeface="Times New Roman" panose="02020603050405020304" pitchFamily="18" charset="0"/>
                <a:cs typeface="Times New Roman" panose="02020603050405020304" pitchFamily="18" charset="0"/>
              </a:rPr>
              <a:t>			if (</a:t>
            </a:r>
            <a:r>
              <a:rPr lang="en-US" sz="2000" b="1" dirty="0" err="1">
                <a:latin typeface="Times New Roman" panose="02020603050405020304" pitchFamily="18" charset="0"/>
                <a:cs typeface="Times New Roman" panose="02020603050405020304" pitchFamily="18" charset="0"/>
              </a:rPr>
              <a:t>temp_a</a:t>
            </a:r>
            <a:r>
              <a:rPr lang="en-US" sz="2000" b="1" dirty="0">
                <a:latin typeface="Times New Roman" panose="02020603050405020304" pitchFamily="18" charset="0"/>
                <a:cs typeface="Times New Roman" panose="02020603050405020304" pitchFamily="18" charset="0"/>
              </a:rPr>
              <a:t> &lt; </a:t>
            </a:r>
            <a:r>
              <a:rPr lang="en-US" sz="2000" b="1" dirty="0" err="1">
                <a:latin typeface="Times New Roman" panose="02020603050405020304" pitchFamily="18" charset="0"/>
                <a:cs typeface="Times New Roman" panose="02020603050405020304" pitchFamily="18" charset="0"/>
              </a:rPr>
              <a:t>mean_value</a:t>
            </a:r>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arr</a:t>
            </a:r>
            <a:r>
              <a:rPr lang="en-US" sz="2000" b="1" dirty="0">
                <a:latin typeface="Times New Roman" panose="02020603050405020304" pitchFamily="18" charset="0"/>
                <a:cs typeface="Times New Roman" panose="02020603050405020304" pitchFamily="18" charset="0"/>
              </a:rPr>
              <a:t>[</a:t>
            </a:r>
            <a:r>
              <a:rPr lang="en-US" sz="2000" b="1" dirty="0" err="1">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temp_pi</a:t>
            </a:r>
            <a:r>
              <a:rPr lang="en-US" sz="2000" b="1"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arr</a:t>
            </a:r>
            <a:r>
              <a:rPr lang="en-US" sz="2000" b="1" dirty="0">
                <a:latin typeface="Times New Roman" panose="02020603050405020304" pitchFamily="18" charset="0"/>
                <a:cs typeface="Times New Roman" panose="02020603050405020304" pitchFamily="18" charset="0"/>
              </a:rPr>
              <a:t>[pi] = </a:t>
            </a:r>
            <a:r>
              <a:rPr lang="en-US" sz="2000" b="1" dirty="0" err="1">
                <a:latin typeface="Times New Roman" panose="02020603050405020304" pitchFamily="18" charset="0"/>
                <a:cs typeface="Times New Roman" panose="02020603050405020304" pitchFamily="18" charset="0"/>
              </a:rPr>
              <a:t>temp_a</a:t>
            </a:r>
            <a:r>
              <a:rPr lang="en-US" sz="2000" b="1"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				pi++;</a:t>
            </a:r>
          </a:p>
          <a:p>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return (pi &gt; </a:t>
            </a:r>
            <a:r>
              <a:rPr lang="en-US" sz="2000" b="1" dirty="0" err="1">
                <a:latin typeface="Times New Roman" panose="02020603050405020304" pitchFamily="18" charset="0"/>
                <a:cs typeface="Times New Roman" panose="02020603050405020304" pitchFamily="18" charset="0"/>
              </a:rPr>
              <a:t>si</a:t>
            </a:r>
            <a:r>
              <a:rPr lang="en-US" sz="2000" b="1" dirty="0">
                <a:latin typeface="Times New Roman" panose="02020603050405020304" pitchFamily="18" charset="0"/>
                <a:cs typeface="Times New Roman" panose="02020603050405020304" pitchFamily="18" charset="0"/>
              </a:rPr>
              <a:t>) ? (pi - 1) : </a:t>
            </a:r>
            <a:r>
              <a:rPr lang="en-US" sz="2000" b="1" dirty="0" err="1">
                <a:latin typeface="Times New Roman" panose="02020603050405020304" pitchFamily="18" charset="0"/>
                <a:cs typeface="Times New Roman" panose="02020603050405020304" pitchFamily="18" charset="0"/>
              </a:rPr>
              <a:t>si</a:t>
            </a:r>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a:t>
            </a:r>
            <a:endParaRPr lang="vi-VN" sz="2000" b="1"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EA81A10-53F9-ADF4-9E73-98C6C22BBCA2}"/>
              </a:ext>
            </a:extLst>
          </p:cNvPr>
          <p:cNvSpPr/>
          <p:nvPr/>
        </p:nvSpPr>
        <p:spPr>
          <a:xfrm>
            <a:off x="1981200" y="3467100"/>
            <a:ext cx="7162800" cy="609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Rectangle 5">
            <a:extLst>
              <a:ext uri="{FF2B5EF4-FFF2-40B4-BE49-F238E27FC236}">
                <a16:creationId xmlns:a16="http://schemas.microsoft.com/office/drawing/2014/main" id="{439E6127-7857-608E-41E8-C3A77C378578}"/>
              </a:ext>
            </a:extLst>
          </p:cNvPr>
          <p:cNvSpPr/>
          <p:nvPr/>
        </p:nvSpPr>
        <p:spPr>
          <a:xfrm>
            <a:off x="1980063" y="4375279"/>
            <a:ext cx="7162800" cy="609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Rectangle 6">
            <a:extLst>
              <a:ext uri="{FF2B5EF4-FFF2-40B4-BE49-F238E27FC236}">
                <a16:creationId xmlns:a16="http://schemas.microsoft.com/office/drawing/2014/main" id="{C5FCC34E-5E0F-4554-5F51-D6943797431C}"/>
              </a:ext>
            </a:extLst>
          </p:cNvPr>
          <p:cNvSpPr/>
          <p:nvPr/>
        </p:nvSpPr>
        <p:spPr>
          <a:xfrm>
            <a:off x="1980063" y="5026088"/>
            <a:ext cx="7162800" cy="11842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89330562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DE1F7-4458-670C-4862-93475B7D85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855FF51-05A8-05C9-6F06-189728147941}"/>
              </a:ext>
            </a:extLst>
          </p:cNvPr>
          <p:cNvSpPr/>
          <p:nvPr/>
        </p:nvSpPr>
        <p:spPr>
          <a:xfrm>
            <a:off x="381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17DDD53A-C6F4-4F9F-87F2-BF324F9DF501}"/>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2. </a:t>
            </a:r>
            <a:r>
              <a:rPr lang="en-US" sz="6399" b="1" dirty="0" err="1">
                <a:solidFill>
                  <a:srgbClr val="042B91"/>
                </a:solidFill>
                <a:latin typeface="Calibri (MS) Bold"/>
                <a:ea typeface="Calibri (MS) Bold"/>
                <a:cs typeface="Calibri (MS) Bold"/>
                <a:sym typeface="Calibri (MS) Bold"/>
              </a:rPr>
              <a:t>Mô</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phỏng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bằng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mềm</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6F03F5CD-82DA-F26E-32D4-935766F10088}"/>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sp>
        <p:nvSpPr>
          <p:cNvPr id="8" name="TextBox 7">
            <a:extLst>
              <a:ext uri="{FF2B5EF4-FFF2-40B4-BE49-F238E27FC236}">
                <a16:creationId xmlns:a16="http://schemas.microsoft.com/office/drawing/2014/main" id="{67C5FD8B-1F66-1143-02DC-175F558B7EEE}"/>
              </a:ext>
            </a:extLst>
          </p:cNvPr>
          <p:cNvSpPr txBox="1"/>
          <p:nvPr/>
        </p:nvSpPr>
        <p:spPr>
          <a:xfrm>
            <a:off x="1028700" y="1714500"/>
            <a:ext cx="13106400" cy="7663636"/>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void </a:t>
            </a:r>
            <a:r>
              <a:rPr lang="en-US" sz="1200" b="1" dirty="0" err="1">
                <a:latin typeface="Times New Roman" panose="02020603050405020304" pitchFamily="18" charset="0"/>
                <a:cs typeface="Times New Roman" panose="02020603050405020304" pitchFamily="18" charset="0"/>
              </a:rPr>
              <a:t>C_Framework_RTL</a:t>
            </a:r>
            <a:r>
              <a:rPr lang="en-US" sz="1200" b="1" dirty="0">
                <a:latin typeface="Times New Roman" panose="02020603050405020304" pitchFamily="18" charset="0"/>
                <a:cs typeface="Times New Roman" panose="02020603050405020304" pitchFamily="18" charset="0"/>
              </a:rPr>
              <a:t>::</a:t>
            </a:r>
            <a:r>
              <a:rPr lang="en-US" sz="1200" b="1" dirty="0" err="1">
                <a:latin typeface="Times New Roman" panose="02020603050405020304" pitchFamily="18" charset="0"/>
                <a:cs typeface="Times New Roman" panose="02020603050405020304" pitchFamily="18" charset="0"/>
              </a:rPr>
              <a:t>P_Division_Iterative</a:t>
            </a:r>
            <a:r>
              <a:rPr lang="en-US" sz="1200" b="1" dirty="0">
                <a:latin typeface="Times New Roman" panose="02020603050405020304" pitchFamily="18" charset="0"/>
                <a:cs typeface="Times New Roman" panose="02020603050405020304" pitchFamily="18" charset="0"/>
              </a:rPr>
              <a:t>(std::vector&lt;SIZE_ARR_T&gt;&amp; </a:t>
            </a:r>
            <a:r>
              <a:rPr lang="en-US" sz="1200" b="1" dirty="0" err="1">
                <a:latin typeface="Times New Roman" panose="02020603050405020304" pitchFamily="18" charset="0"/>
                <a:cs typeface="Times New Roman" panose="02020603050405020304" pitchFamily="18" charset="0"/>
              </a:rPr>
              <a:t>arr</a:t>
            </a:r>
            <a:r>
              <a:rPr lang="en-US" sz="1200" b="1" dirty="0">
                <a:latin typeface="Times New Roman" panose="02020603050405020304" pitchFamily="18" charset="0"/>
                <a:cs typeface="Times New Roman" panose="02020603050405020304" pitchFamily="18" charset="0"/>
              </a:rPr>
              <a:t>, int M) {</a:t>
            </a:r>
          </a:p>
          <a:p>
            <a:r>
              <a:rPr lang="en-US" sz="1200" b="1" dirty="0">
                <a:latin typeface="Times New Roman" panose="02020603050405020304" pitchFamily="18" charset="0"/>
                <a:cs typeface="Times New Roman" panose="02020603050405020304" pitchFamily="18" charset="0"/>
              </a:rPr>
              <a:t>        std::vector&lt;</a:t>
            </a:r>
            <a:r>
              <a:rPr lang="en-US" sz="1200" b="1" dirty="0" err="1">
                <a:latin typeface="Times New Roman" panose="02020603050405020304" pitchFamily="18" charset="0"/>
                <a:cs typeface="Times New Roman" panose="02020603050405020304" pitchFamily="18" charset="0"/>
              </a:rPr>
              <a:t>PartitionTask</a:t>
            </a:r>
            <a:r>
              <a:rPr lang="en-US" sz="1200" b="1" dirty="0">
                <a:latin typeface="Times New Roman" panose="02020603050405020304" pitchFamily="18" charset="0"/>
                <a:cs typeface="Times New Roman" panose="02020603050405020304" pitchFamily="18" charset="0"/>
              </a:rPr>
              <a:t>&gt; </a:t>
            </a:r>
            <a:r>
              <a:rPr lang="en-US" sz="1200" b="1" dirty="0" err="1">
                <a:latin typeface="Times New Roman" panose="02020603050405020304" pitchFamily="18" charset="0"/>
                <a:cs typeface="Times New Roman" panose="02020603050405020304" pitchFamily="18" charset="0"/>
              </a:rPr>
              <a:t>stack_registers</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if (!</a:t>
            </a:r>
            <a:r>
              <a:rPr lang="en-US" sz="1200" b="1" dirty="0" err="1">
                <a:latin typeface="Times New Roman" panose="02020603050405020304" pitchFamily="18" charset="0"/>
                <a:cs typeface="Times New Roman" panose="02020603050405020304" pitchFamily="18" charset="0"/>
              </a:rPr>
              <a:t>arr.empty</a:t>
            </a:r>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stack_registers.push_back</a:t>
            </a:r>
            <a:r>
              <a:rPr lang="en-US" sz="1200" b="1" dirty="0">
                <a:latin typeface="Times New Roman" panose="02020603050405020304" pitchFamily="18" charset="0"/>
                <a:cs typeface="Times New Roman" panose="02020603050405020304" pitchFamily="18" charset="0"/>
              </a:rPr>
              <a:t>({0, </a:t>
            </a:r>
            <a:r>
              <a:rPr lang="en-US" sz="1200" b="1" dirty="0" err="1">
                <a:latin typeface="Times New Roman" panose="02020603050405020304" pitchFamily="18" charset="0"/>
                <a:cs typeface="Times New Roman" panose="02020603050405020304" pitchFamily="18" charset="0"/>
              </a:rPr>
              <a:t>static_cast</a:t>
            </a:r>
            <a:r>
              <a:rPr lang="en-US" sz="1200" b="1" dirty="0">
                <a:latin typeface="Times New Roman" panose="02020603050405020304" pitchFamily="18" charset="0"/>
                <a:cs typeface="Times New Roman" panose="02020603050405020304" pitchFamily="18" charset="0"/>
              </a:rPr>
              <a:t>&lt;</a:t>
            </a:r>
            <a:r>
              <a:rPr lang="en-US" sz="1200" b="1" dirty="0" err="1">
                <a:latin typeface="Times New Roman" panose="02020603050405020304" pitchFamily="18" charset="0"/>
                <a:cs typeface="Times New Roman" panose="02020603050405020304" pitchFamily="18" charset="0"/>
              </a:rPr>
              <a:t>IndexType</a:t>
            </a:r>
            <a:r>
              <a:rPr lang="en-US" sz="1200" b="1" dirty="0">
                <a:latin typeface="Times New Roman" panose="02020603050405020304" pitchFamily="18" charset="0"/>
                <a:cs typeface="Times New Roman" panose="02020603050405020304" pitchFamily="18" charset="0"/>
              </a:rPr>
              <a:t>&gt;(</a:t>
            </a:r>
            <a:r>
              <a:rPr lang="en-US" sz="1200" b="1" dirty="0" err="1">
                <a:latin typeface="Times New Roman" panose="02020603050405020304" pitchFamily="18" charset="0"/>
                <a:cs typeface="Times New Roman" panose="02020603050405020304" pitchFamily="18" charset="0"/>
              </a:rPr>
              <a:t>arr.size</a:t>
            </a:r>
            <a:r>
              <a:rPr lang="en-US" sz="1200" b="1" dirty="0">
                <a:latin typeface="Times New Roman" panose="02020603050405020304" pitchFamily="18" charset="0"/>
                <a:cs typeface="Times New Roman" panose="02020603050405020304" pitchFamily="18" charset="0"/>
              </a:rPr>
              <a:t>()) - 1, 0});</a:t>
            </a:r>
          </a:p>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while (!</a:t>
            </a:r>
            <a:r>
              <a:rPr lang="en-US" sz="1200" b="1" dirty="0" err="1">
                <a:latin typeface="Times New Roman" panose="02020603050405020304" pitchFamily="18" charset="0"/>
                <a:cs typeface="Times New Roman" panose="02020603050405020304" pitchFamily="18" charset="0"/>
              </a:rPr>
              <a:t>stack_registers.empty</a:t>
            </a:r>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SIZE_TYPE_T </a:t>
            </a:r>
            <a:r>
              <a:rPr lang="en-US" sz="1200" b="1" dirty="0" err="1">
                <a:latin typeface="Times New Roman" panose="02020603050405020304" pitchFamily="18" charset="0"/>
                <a:cs typeface="Times New Roman" panose="02020603050405020304" pitchFamily="18" charset="0"/>
              </a:rPr>
              <a:t>mean_val</a:t>
            </a:r>
            <a:r>
              <a:rPr lang="en-US" sz="1200" b="1" dirty="0">
                <a:latin typeface="Times New Roman" panose="02020603050405020304" pitchFamily="18" charset="0"/>
                <a:cs typeface="Times New Roman" panose="02020603050405020304" pitchFamily="18" charset="0"/>
              </a:rPr>
              <a:t> = 0;</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PartitionTask</a:t>
            </a:r>
            <a:r>
              <a:rPr lang="en-US" sz="1200" b="1" dirty="0">
                <a:latin typeface="Times New Roman" panose="02020603050405020304" pitchFamily="18" charset="0"/>
                <a:cs typeface="Times New Roman" panose="02020603050405020304" pitchFamily="18" charset="0"/>
              </a:rPr>
              <a:t> task = </a:t>
            </a:r>
            <a:r>
              <a:rPr lang="en-US" sz="1200" b="1" dirty="0" err="1">
                <a:latin typeface="Times New Roman" panose="02020603050405020304" pitchFamily="18" charset="0"/>
                <a:cs typeface="Times New Roman" panose="02020603050405020304" pitchFamily="18" charset="0"/>
              </a:rPr>
              <a:t>stack_registers.back</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stack_registers.pop_back</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IndexType</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si</a:t>
            </a:r>
            <a:r>
              <a:rPr lang="en-US" sz="1200" b="1" dirty="0">
                <a:latin typeface="Times New Roman" panose="02020603050405020304" pitchFamily="18" charset="0"/>
                <a:cs typeface="Times New Roman" panose="02020603050405020304" pitchFamily="18" charset="0"/>
              </a:rPr>
              <a:t> = task.si;</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IndexType</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ei</a:t>
            </a:r>
            <a:r>
              <a:rPr lang="en-US" sz="1200" b="1" dirty="0">
                <a:latin typeface="Times New Roman" panose="02020603050405020304" pitchFamily="18" charset="0"/>
                <a:cs typeface="Times New Roman" panose="02020603050405020304" pitchFamily="18" charset="0"/>
              </a:rPr>
              <a:t> = </a:t>
            </a:r>
            <a:r>
              <a:rPr lang="en-US" sz="1200" b="1" dirty="0" err="1">
                <a:latin typeface="Times New Roman" panose="02020603050405020304" pitchFamily="18" charset="0"/>
                <a:cs typeface="Times New Roman" panose="02020603050405020304" pitchFamily="18" charset="0"/>
              </a:rPr>
              <a:t>task.ei</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IndexType</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current_level</a:t>
            </a:r>
            <a:r>
              <a:rPr lang="en-US" sz="1200" b="1" dirty="0">
                <a:latin typeface="Times New Roman" panose="02020603050405020304" pitchFamily="18" charset="0"/>
                <a:cs typeface="Times New Roman" panose="02020603050405020304" pitchFamily="18" charset="0"/>
              </a:rPr>
              <a:t> = </a:t>
            </a:r>
            <a:r>
              <a:rPr lang="en-US" sz="1200" b="1" dirty="0" err="1">
                <a:latin typeface="Times New Roman" panose="02020603050405020304" pitchFamily="18" charset="0"/>
                <a:cs typeface="Times New Roman" panose="02020603050405020304" pitchFamily="18" charset="0"/>
              </a:rPr>
              <a:t>task.level</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if (</a:t>
            </a:r>
            <a:r>
              <a:rPr lang="en-US" sz="1200" b="1" dirty="0" err="1">
                <a:latin typeface="Times New Roman" panose="02020603050405020304" pitchFamily="18" charset="0"/>
                <a:cs typeface="Times New Roman" panose="02020603050405020304" pitchFamily="18" charset="0"/>
              </a:rPr>
              <a:t>si</a:t>
            </a:r>
            <a:r>
              <a:rPr lang="en-US" sz="1200" b="1" dirty="0">
                <a:latin typeface="Times New Roman" panose="02020603050405020304" pitchFamily="18" charset="0"/>
                <a:cs typeface="Times New Roman" panose="02020603050405020304" pitchFamily="18" charset="0"/>
              </a:rPr>
              <a:t> &gt;= </a:t>
            </a:r>
            <a:r>
              <a:rPr lang="en-US" sz="1200" b="1" dirty="0" err="1">
                <a:latin typeface="Times New Roman" panose="02020603050405020304" pitchFamily="18" charset="0"/>
                <a:cs typeface="Times New Roman" panose="02020603050405020304" pitchFamily="18" charset="0"/>
              </a:rPr>
              <a:t>ei</a:t>
            </a:r>
            <a:r>
              <a:rPr lang="en-US" sz="1200" b="1" dirty="0">
                <a:latin typeface="Times New Roman" panose="02020603050405020304" pitchFamily="18" charset="0"/>
                <a:cs typeface="Times New Roman" panose="02020603050405020304" pitchFamily="18" charset="0"/>
              </a:rPr>
              <a:t>) continue;</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RTL_state</a:t>
            </a:r>
            <a:r>
              <a:rPr lang="en-US" sz="1200" b="1" dirty="0">
                <a:latin typeface="Times New Roman" panose="02020603050405020304" pitchFamily="18" charset="0"/>
                <a:cs typeface="Times New Roman" panose="02020603050405020304" pitchFamily="18" charset="0"/>
              </a:rPr>
              <a:t> = </a:t>
            </a:r>
            <a:r>
              <a:rPr lang="en-US" sz="1200" b="1" dirty="0" err="1">
                <a:latin typeface="Times New Roman" panose="02020603050405020304" pitchFamily="18" charset="0"/>
                <a:cs typeface="Times New Roman" panose="02020603050405020304" pitchFamily="18" charset="0"/>
              </a:rPr>
              <a:t>P_SS_Check</a:t>
            </a:r>
            <a:r>
              <a:rPr lang="en-US" sz="1200" b="1" dirty="0">
                <a:latin typeface="Times New Roman" panose="02020603050405020304" pitchFamily="18" charset="0"/>
                <a:cs typeface="Times New Roman" panose="02020603050405020304" pitchFamily="18" charset="0"/>
              </a:rPr>
              <a:t>(</a:t>
            </a:r>
            <a:r>
              <a:rPr lang="en-US" sz="1200" b="1" dirty="0" err="1">
                <a:latin typeface="Times New Roman" panose="02020603050405020304" pitchFamily="18" charset="0"/>
                <a:cs typeface="Times New Roman" panose="02020603050405020304" pitchFamily="18" charset="0"/>
              </a:rPr>
              <a:t>arr</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ei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mean_val</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if (</a:t>
            </a:r>
            <a:r>
              <a:rPr lang="en-US" sz="1200" b="1" dirty="0" err="1">
                <a:latin typeface="Times New Roman" panose="02020603050405020304" pitchFamily="18" charset="0"/>
                <a:cs typeface="Times New Roman" panose="02020603050405020304" pitchFamily="18" charset="0"/>
              </a:rPr>
              <a:t>RTL_state</a:t>
            </a:r>
            <a:r>
              <a:rPr lang="en-US" sz="1200" b="1" dirty="0">
                <a:latin typeface="Times New Roman" panose="02020603050405020304" pitchFamily="18" charset="0"/>
                <a:cs typeface="Times New Roman" panose="02020603050405020304" pitchFamily="18" charset="0"/>
              </a:rPr>
              <a:t> == RTL_SIMILAR)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P_count_is_Sim</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continue; </a:t>
            </a:r>
          </a:p>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else if (</a:t>
            </a:r>
            <a:r>
              <a:rPr lang="en-US" sz="1200" b="1" dirty="0" err="1">
                <a:latin typeface="Times New Roman" panose="02020603050405020304" pitchFamily="18" charset="0"/>
                <a:cs typeface="Times New Roman" panose="02020603050405020304" pitchFamily="18" charset="0"/>
              </a:rPr>
              <a:t>RTL_state</a:t>
            </a:r>
            <a:r>
              <a:rPr lang="en-US" sz="1200" b="1" dirty="0">
                <a:latin typeface="Times New Roman" panose="02020603050405020304" pitchFamily="18" charset="0"/>
                <a:cs typeface="Times New Roman" panose="02020603050405020304" pitchFamily="18" charset="0"/>
              </a:rPr>
              <a:t> == RTL_ACSENDING)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P_count_is_Asc</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continue;</a:t>
            </a:r>
          </a:p>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else if (</a:t>
            </a:r>
            <a:r>
              <a:rPr lang="en-US" sz="1200" b="1" dirty="0" err="1">
                <a:latin typeface="Times New Roman" panose="02020603050405020304" pitchFamily="18" charset="0"/>
                <a:cs typeface="Times New Roman" panose="02020603050405020304" pitchFamily="18" charset="0"/>
              </a:rPr>
              <a:t>RTL_state</a:t>
            </a:r>
            <a:r>
              <a:rPr lang="en-US" sz="1200" b="1" dirty="0">
                <a:latin typeface="Times New Roman" panose="02020603050405020304" pitchFamily="18" charset="0"/>
                <a:cs typeface="Times New Roman" panose="02020603050405020304" pitchFamily="18" charset="0"/>
              </a:rPr>
              <a:t> == RTL_DESCENDING)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P_count_is_Desc</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std::reverse(</a:t>
            </a:r>
            <a:r>
              <a:rPr lang="en-US" sz="1200" b="1" dirty="0" err="1">
                <a:latin typeface="Times New Roman" panose="02020603050405020304" pitchFamily="18" charset="0"/>
                <a:cs typeface="Times New Roman" panose="02020603050405020304" pitchFamily="18" charset="0"/>
              </a:rPr>
              <a:t>arr.begin</a:t>
            </a:r>
            <a:r>
              <a:rPr lang="en-US" sz="1200" b="1" dirty="0">
                <a:latin typeface="Times New Roman" panose="02020603050405020304" pitchFamily="18" charset="0"/>
                <a:cs typeface="Times New Roman" panose="02020603050405020304" pitchFamily="18" charset="0"/>
              </a:rPr>
              <a:t>() + </a:t>
            </a:r>
            <a:r>
              <a:rPr lang="en-US" sz="1200" b="1" dirty="0" err="1">
                <a:latin typeface="Times New Roman" panose="02020603050405020304" pitchFamily="18" charset="0"/>
                <a:cs typeface="Times New Roman" panose="02020603050405020304" pitchFamily="18" charset="0"/>
              </a:rPr>
              <a:t>si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arr.begin</a:t>
            </a:r>
            <a:r>
              <a:rPr lang="en-US" sz="1200" b="1" dirty="0">
                <a:latin typeface="Times New Roman" panose="02020603050405020304" pitchFamily="18" charset="0"/>
                <a:cs typeface="Times New Roman" panose="02020603050405020304" pitchFamily="18" charset="0"/>
              </a:rPr>
              <a:t>() + </a:t>
            </a:r>
            <a:r>
              <a:rPr lang="en-US" sz="1200" b="1" dirty="0" err="1">
                <a:latin typeface="Times New Roman" panose="02020603050405020304" pitchFamily="18" charset="0"/>
                <a:cs typeface="Times New Roman" panose="02020603050405020304" pitchFamily="18" charset="0"/>
              </a:rPr>
              <a:t>ei</a:t>
            </a:r>
            <a:r>
              <a:rPr lang="en-US" sz="1200" b="1" dirty="0">
                <a:latin typeface="Times New Roman" panose="02020603050405020304" pitchFamily="18" charset="0"/>
                <a:cs typeface="Times New Roman" panose="02020603050405020304" pitchFamily="18" charset="0"/>
              </a:rPr>
              <a:t> + 1);</a:t>
            </a:r>
          </a:p>
          <a:p>
            <a:r>
              <a:rPr lang="en-US" sz="1200" b="1" dirty="0">
                <a:latin typeface="Times New Roman" panose="02020603050405020304" pitchFamily="18" charset="0"/>
                <a:cs typeface="Times New Roman" panose="02020603050405020304" pitchFamily="18" charset="0"/>
              </a:rPr>
              <a:t>                continue;</a:t>
            </a:r>
          </a:p>
          <a:p>
            <a:r>
              <a:rPr lang="en-US" sz="1200" b="1" dirty="0">
                <a:latin typeface="Times New Roman" panose="02020603050405020304" pitchFamily="18" charset="0"/>
                <a:cs typeface="Times New Roman" panose="02020603050405020304" pitchFamily="18" charset="0"/>
              </a:rPr>
              <a:t>            } else {</a:t>
            </a:r>
          </a:p>
          <a:p>
            <a:r>
              <a:rPr lang="en-US" sz="1200" b="1" dirty="0">
                <a:latin typeface="Times New Roman" panose="02020603050405020304" pitchFamily="18" charset="0"/>
                <a:cs typeface="Times New Roman" panose="02020603050405020304" pitchFamily="18" charset="0"/>
              </a:rPr>
              <a:t>                if (</a:t>
            </a:r>
            <a:r>
              <a:rPr lang="en-US" sz="1200" b="1" dirty="0" err="1">
                <a:latin typeface="Times New Roman" panose="02020603050405020304" pitchFamily="18" charset="0"/>
                <a:cs typeface="Times New Roman" panose="02020603050405020304" pitchFamily="18" charset="0"/>
              </a:rPr>
              <a:t>current_level</a:t>
            </a:r>
            <a:r>
              <a:rPr lang="en-US" sz="1200" b="1" dirty="0">
                <a:latin typeface="Times New Roman" panose="02020603050405020304" pitchFamily="18" charset="0"/>
                <a:cs typeface="Times New Roman" panose="02020603050405020304" pitchFamily="18" charset="0"/>
              </a:rPr>
              <a:t> &lt; M)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IndexType</a:t>
            </a:r>
            <a:r>
              <a:rPr lang="en-US" sz="1200" b="1" dirty="0">
                <a:latin typeface="Times New Roman" panose="02020603050405020304" pitchFamily="18" charset="0"/>
                <a:cs typeface="Times New Roman" panose="02020603050405020304" pitchFamily="18" charset="0"/>
              </a:rPr>
              <a:t> bi = </a:t>
            </a:r>
            <a:r>
              <a:rPr lang="en-US" sz="1200" b="1" dirty="0" err="1">
                <a:latin typeface="Times New Roman" panose="02020603050405020304" pitchFamily="18" charset="0"/>
                <a:cs typeface="Times New Roman" panose="02020603050405020304" pitchFamily="18" charset="0"/>
              </a:rPr>
              <a:t>P_Partition_Iterative</a:t>
            </a:r>
            <a:r>
              <a:rPr lang="en-US" sz="1200" b="1" dirty="0">
                <a:latin typeface="Times New Roman" panose="02020603050405020304" pitchFamily="18" charset="0"/>
                <a:cs typeface="Times New Roman" panose="02020603050405020304" pitchFamily="18" charset="0"/>
              </a:rPr>
              <a:t>(</a:t>
            </a:r>
            <a:r>
              <a:rPr lang="en-US" sz="1200" b="1" dirty="0" err="1">
                <a:latin typeface="Times New Roman" panose="02020603050405020304" pitchFamily="18" charset="0"/>
                <a:cs typeface="Times New Roman" panose="02020603050405020304" pitchFamily="18" charset="0"/>
              </a:rPr>
              <a:t>arr</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ei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mean_val</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stack_registers.push_back</a:t>
            </a:r>
            <a:r>
              <a:rPr lang="en-US" sz="1200" b="1" dirty="0">
                <a:latin typeface="Times New Roman" panose="02020603050405020304" pitchFamily="18" charset="0"/>
                <a:cs typeface="Times New Roman" panose="02020603050405020304" pitchFamily="18" charset="0"/>
              </a:rPr>
              <a:t>({bi, </a:t>
            </a:r>
            <a:r>
              <a:rPr lang="en-US" sz="1200" b="1" dirty="0" err="1">
                <a:latin typeface="Times New Roman" panose="02020603050405020304" pitchFamily="18" charset="0"/>
                <a:cs typeface="Times New Roman" panose="02020603050405020304" pitchFamily="18" charset="0"/>
              </a:rPr>
              <a:t>ei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current_level</a:t>
            </a:r>
            <a:r>
              <a:rPr lang="en-US" sz="1200" b="1" dirty="0">
                <a:latin typeface="Times New Roman" panose="02020603050405020304" pitchFamily="18" charset="0"/>
                <a:cs typeface="Times New Roman" panose="02020603050405020304" pitchFamily="18" charset="0"/>
              </a:rPr>
              <a:t> + 1});</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stack_registers.push_back</a:t>
            </a:r>
            <a:r>
              <a:rPr lang="en-US" sz="1200" b="1" dirty="0">
                <a:latin typeface="Times New Roman" panose="02020603050405020304" pitchFamily="18" charset="0"/>
                <a:cs typeface="Times New Roman" panose="02020603050405020304" pitchFamily="18" charset="0"/>
              </a:rPr>
              <a:t>({</a:t>
            </a:r>
            <a:r>
              <a:rPr lang="en-US" sz="1200" b="1" dirty="0" err="1">
                <a:latin typeface="Times New Roman" panose="02020603050405020304" pitchFamily="18" charset="0"/>
                <a:cs typeface="Times New Roman" panose="02020603050405020304" pitchFamily="18" charset="0"/>
              </a:rPr>
              <a:t>si</a:t>
            </a:r>
            <a:r>
              <a:rPr lang="en-US" sz="1200" b="1" dirty="0">
                <a:latin typeface="Times New Roman" panose="02020603050405020304" pitchFamily="18" charset="0"/>
                <a:cs typeface="Times New Roman" panose="02020603050405020304" pitchFamily="18" charset="0"/>
              </a:rPr>
              <a:t>, bi, </a:t>
            </a:r>
            <a:r>
              <a:rPr lang="en-US" sz="1200" b="1" dirty="0" err="1">
                <a:latin typeface="Times New Roman" panose="02020603050405020304" pitchFamily="18" charset="0"/>
                <a:cs typeface="Times New Roman" panose="02020603050405020304" pitchFamily="18" charset="0"/>
              </a:rPr>
              <a:t>current_level</a:t>
            </a:r>
            <a:r>
              <a:rPr lang="en-US" sz="1200" b="1" dirty="0">
                <a:latin typeface="Times New Roman" panose="02020603050405020304" pitchFamily="18" charset="0"/>
                <a:cs typeface="Times New Roman" panose="02020603050405020304" pitchFamily="18" charset="0"/>
              </a:rPr>
              <a:t> + 1});</a:t>
            </a:r>
          </a:p>
          <a:p>
            <a:r>
              <a:rPr lang="en-US" sz="1200" b="1" dirty="0">
                <a:latin typeface="Times New Roman" panose="02020603050405020304" pitchFamily="18" charset="0"/>
                <a:cs typeface="Times New Roman" panose="02020603050405020304" pitchFamily="18" charset="0"/>
              </a:rPr>
              <a:t>                } else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P_count_subarrays</a:t>
            </a:r>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F_QuickSort</a:t>
            </a:r>
            <a:r>
              <a:rPr lang="en-US" sz="1200" b="1" dirty="0">
                <a:latin typeface="Times New Roman" panose="02020603050405020304" pitchFamily="18" charset="0"/>
                <a:cs typeface="Times New Roman" panose="02020603050405020304" pitchFamily="18" charset="0"/>
              </a:rPr>
              <a:t>(</a:t>
            </a:r>
            <a:r>
              <a:rPr lang="en-US" sz="1200" b="1" dirty="0" err="1">
                <a:latin typeface="Times New Roman" panose="02020603050405020304" pitchFamily="18" charset="0"/>
                <a:cs typeface="Times New Roman" panose="02020603050405020304" pitchFamily="18" charset="0"/>
              </a:rPr>
              <a:t>arr</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si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ei</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P_count_compare</a:t>
            </a:r>
            <a:r>
              <a:rPr lang="en-US" sz="1200" b="1" dirty="0">
                <a:latin typeface="Times New Roman" panose="02020603050405020304" pitchFamily="18" charset="0"/>
                <a:cs typeface="Times New Roman" panose="02020603050405020304" pitchFamily="18" charset="0"/>
              </a:rPr>
              <a:t> += </a:t>
            </a:r>
            <a:r>
              <a:rPr lang="en-US" sz="1200" b="1" dirty="0" err="1">
                <a:latin typeface="Times New Roman" panose="02020603050405020304" pitchFamily="18" charset="0"/>
                <a:cs typeface="Times New Roman" panose="02020603050405020304" pitchFamily="18" charset="0"/>
              </a:rPr>
              <a:t>C_Sort_Algor</a:t>
            </a:r>
            <a:r>
              <a:rPr lang="en-US" sz="1200" b="1" dirty="0">
                <a:latin typeface="Times New Roman" panose="02020603050405020304" pitchFamily="18" charset="0"/>
                <a:cs typeface="Times New Roman" panose="02020603050405020304" pitchFamily="18" charset="0"/>
              </a:rPr>
              <a:t>::</a:t>
            </a:r>
            <a:r>
              <a:rPr lang="en-US" sz="1200" b="1" dirty="0" err="1">
                <a:latin typeface="Times New Roman" panose="02020603050405020304" pitchFamily="18" charset="0"/>
                <a:cs typeface="Times New Roman" panose="02020603050405020304" pitchFamily="18" charset="0"/>
              </a:rPr>
              <a:t>Get_Count_Compare</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P_count_swap</a:t>
            </a:r>
            <a:r>
              <a:rPr lang="en-US" sz="1200" b="1" dirty="0">
                <a:latin typeface="Times New Roman" panose="02020603050405020304" pitchFamily="18" charset="0"/>
                <a:cs typeface="Times New Roman" panose="02020603050405020304" pitchFamily="18" charset="0"/>
              </a:rPr>
              <a:t>    += </a:t>
            </a:r>
            <a:r>
              <a:rPr lang="en-US" sz="1200" b="1" dirty="0" err="1">
                <a:latin typeface="Times New Roman" panose="02020603050405020304" pitchFamily="18" charset="0"/>
                <a:cs typeface="Times New Roman" panose="02020603050405020304" pitchFamily="18" charset="0"/>
              </a:rPr>
              <a:t>C_Sort_Algor</a:t>
            </a:r>
            <a:r>
              <a:rPr lang="en-US" sz="1200" b="1" dirty="0">
                <a:latin typeface="Times New Roman" panose="02020603050405020304" pitchFamily="18" charset="0"/>
                <a:cs typeface="Times New Roman" panose="02020603050405020304" pitchFamily="18" charset="0"/>
              </a:rPr>
              <a:t>::</a:t>
            </a:r>
            <a:r>
              <a:rPr lang="en-US" sz="1200" b="1" dirty="0" err="1">
                <a:latin typeface="Times New Roman" panose="02020603050405020304" pitchFamily="18" charset="0"/>
                <a:cs typeface="Times New Roman" panose="02020603050405020304" pitchFamily="18" charset="0"/>
              </a:rPr>
              <a:t>Get_Count_Swap</a:t>
            </a:r>
            <a:r>
              <a:rPr lang="en-US" sz="1200" b="1" dirty="0">
                <a:latin typeface="Times New Roman" panose="02020603050405020304" pitchFamily="18" charset="0"/>
                <a:cs typeface="Times New Roman" panose="02020603050405020304" pitchFamily="18" charset="0"/>
              </a:rPr>
              <a:t>();</a:t>
            </a:r>
          </a:p>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    }</a:t>
            </a:r>
          </a:p>
          <a:p>
            <a:endParaRPr lang="vi-VN" sz="1200" b="1"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C504891D-6E0B-3420-A548-8B58E148E2EF}"/>
              </a:ext>
            </a:extLst>
          </p:cNvPr>
          <p:cNvSpPr/>
          <p:nvPr/>
        </p:nvSpPr>
        <p:spPr>
          <a:xfrm>
            <a:off x="1295400" y="2095500"/>
            <a:ext cx="5791200" cy="609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Rectangle 10">
            <a:extLst>
              <a:ext uri="{FF2B5EF4-FFF2-40B4-BE49-F238E27FC236}">
                <a16:creationId xmlns:a16="http://schemas.microsoft.com/office/drawing/2014/main" id="{D85F3E17-00F9-F6AA-A77A-65E7EFE133D6}"/>
              </a:ext>
            </a:extLst>
          </p:cNvPr>
          <p:cNvSpPr/>
          <p:nvPr/>
        </p:nvSpPr>
        <p:spPr>
          <a:xfrm>
            <a:off x="1295400" y="3373013"/>
            <a:ext cx="5791200" cy="609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Rectangle 12">
            <a:extLst>
              <a:ext uri="{FF2B5EF4-FFF2-40B4-BE49-F238E27FC236}">
                <a16:creationId xmlns:a16="http://schemas.microsoft.com/office/drawing/2014/main" id="{1A6C318E-C42A-3B39-BBE6-FD7CF5CECD4D}"/>
              </a:ext>
            </a:extLst>
          </p:cNvPr>
          <p:cNvSpPr/>
          <p:nvPr/>
        </p:nvSpPr>
        <p:spPr>
          <a:xfrm>
            <a:off x="1295400" y="6667500"/>
            <a:ext cx="5791200" cy="838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5" name="Picture 14">
            <a:extLst>
              <a:ext uri="{FF2B5EF4-FFF2-40B4-BE49-F238E27FC236}">
                <a16:creationId xmlns:a16="http://schemas.microsoft.com/office/drawing/2014/main" id="{1C8D00E0-277D-DA63-D668-086B39EBD3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9100" y="3677813"/>
            <a:ext cx="9869406" cy="2566899"/>
          </a:xfrm>
          <a:prstGeom prst="rect">
            <a:avLst/>
          </a:prstGeom>
        </p:spPr>
      </p:pic>
    </p:spTree>
    <p:extLst>
      <p:ext uri="{BB962C8B-B14F-4D97-AF65-F5344CB8AC3E}">
        <p14:creationId xmlns:p14="http://schemas.microsoft.com/office/powerpoint/2010/main" val="65239968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84F6B-0C5D-0873-E2EF-18159AB77F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325724-F1AB-26DC-02CD-4A2536E3E76A}"/>
              </a:ext>
            </a:extLst>
          </p:cNvPr>
          <p:cNvSpPr/>
          <p:nvPr/>
        </p:nvSpPr>
        <p:spPr>
          <a:xfrm>
            <a:off x="381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dirty="0"/>
          </a:p>
        </p:txBody>
      </p:sp>
      <p:sp>
        <p:nvSpPr>
          <p:cNvPr id="3" name="TextBox 3">
            <a:extLst>
              <a:ext uri="{FF2B5EF4-FFF2-40B4-BE49-F238E27FC236}">
                <a16:creationId xmlns:a16="http://schemas.microsoft.com/office/drawing/2014/main" id="{087108E0-B265-C98F-41CF-1831AC39767F}"/>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2. </a:t>
            </a:r>
            <a:r>
              <a:rPr lang="en-US" sz="6399" b="1" dirty="0" err="1">
                <a:solidFill>
                  <a:srgbClr val="042B91"/>
                </a:solidFill>
                <a:latin typeface="Calibri (MS) Bold"/>
                <a:ea typeface="Calibri (MS) Bold"/>
                <a:cs typeface="Calibri (MS) Bold"/>
                <a:sym typeface="Calibri (MS) Bold"/>
              </a:rPr>
              <a:t>Mô</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phỏng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bằng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mềm</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F765563E-884C-CF61-CAE4-216978BB46FD}"/>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F015D1CA-CBCD-45EC-5534-BC4D833E69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81214" y="1523597"/>
            <a:ext cx="12184175" cy="8135485"/>
          </a:xfrm>
          <a:prstGeom prst="rect">
            <a:avLst/>
          </a:prstGeom>
        </p:spPr>
      </p:pic>
    </p:spTree>
    <p:extLst>
      <p:ext uri="{BB962C8B-B14F-4D97-AF65-F5344CB8AC3E}">
        <p14:creationId xmlns:p14="http://schemas.microsoft.com/office/powerpoint/2010/main" val="360267544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B265A-0EE4-405C-4F60-975AB8A65A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56C0B4-9B06-5383-2F74-BC77FA30D327}"/>
              </a:ext>
            </a:extLst>
          </p:cNvPr>
          <p:cNvSpPr/>
          <p:nvPr/>
        </p:nvSpPr>
        <p:spPr>
          <a:xfrm>
            <a:off x="3810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4A0C4AAC-3E88-DDB2-64BA-F7B582D9E82A}"/>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2. </a:t>
            </a:r>
            <a:r>
              <a:rPr lang="en-US" sz="6399" b="1" dirty="0" err="1">
                <a:solidFill>
                  <a:srgbClr val="042B91"/>
                </a:solidFill>
                <a:latin typeface="Calibri (MS) Bold"/>
                <a:ea typeface="Calibri (MS) Bold"/>
                <a:cs typeface="Calibri (MS) Bold"/>
                <a:sym typeface="Calibri (MS) Bold"/>
              </a:rPr>
              <a:t>Mô</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phỏng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bằng</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mềm</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906D2AF2-45AE-1037-EC49-C44B56B1AD8A}"/>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AB2BA331-C7C0-C471-D581-5233AE1D95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051" y="2259999"/>
            <a:ext cx="7894225" cy="5276346"/>
          </a:xfrm>
          <a:prstGeom prst="rect">
            <a:avLst/>
          </a:prstGeom>
        </p:spPr>
      </p:pic>
      <p:pic>
        <p:nvPicPr>
          <p:cNvPr id="10" name="Picture 9">
            <a:extLst>
              <a:ext uri="{FF2B5EF4-FFF2-40B4-BE49-F238E27FC236}">
                <a16:creationId xmlns:a16="http://schemas.microsoft.com/office/drawing/2014/main" id="{75F61ACE-9F26-6C24-2F94-FBC908DCA8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58400" y="2237821"/>
            <a:ext cx="7010400" cy="5314446"/>
          </a:xfrm>
          <a:prstGeom prst="rect">
            <a:avLst/>
          </a:prstGeom>
        </p:spPr>
      </p:pic>
      <p:sp>
        <p:nvSpPr>
          <p:cNvPr id="12" name="Rectangle 11">
            <a:extLst>
              <a:ext uri="{FF2B5EF4-FFF2-40B4-BE49-F238E27FC236}">
                <a16:creationId xmlns:a16="http://schemas.microsoft.com/office/drawing/2014/main" id="{2E1B73AB-2A1E-A903-15F2-E3AA8070869B}"/>
              </a:ext>
            </a:extLst>
          </p:cNvPr>
          <p:cNvSpPr/>
          <p:nvPr/>
        </p:nvSpPr>
        <p:spPr>
          <a:xfrm>
            <a:off x="1089547" y="7553973"/>
            <a:ext cx="7162800" cy="591466"/>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2">
                    <a:lumMod val="50000"/>
                  </a:schemeClr>
                </a:solidFill>
                <a:latin typeface="Times New Roman" panose="02020603050405020304" pitchFamily="18" charset="0"/>
                <a:cs typeface="Times New Roman" panose="02020603050405020304" pitchFamily="18" charset="0"/>
              </a:rPr>
              <a:t>Kết</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quả</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sử</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dụng</a:t>
            </a:r>
            <a:r>
              <a:rPr lang="en-US" sz="2400" dirty="0">
                <a:solidFill>
                  <a:schemeClr val="tx2">
                    <a:lumMod val="50000"/>
                  </a:schemeClr>
                </a:solidFill>
                <a:latin typeface="Times New Roman" panose="02020603050405020304" pitchFamily="18" charset="0"/>
                <a:cs typeface="Times New Roman" panose="02020603050405020304" pitchFamily="18" charset="0"/>
              </a:rPr>
              <a:t> memory </a:t>
            </a:r>
            <a:r>
              <a:rPr lang="en-US" sz="2400" dirty="0" err="1">
                <a:solidFill>
                  <a:schemeClr val="tx2">
                    <a:lumMod val="50000"/>
                  </a:schemeClr>
                </a:solidFill>
                <a:latin typeface="Times New Roman" panose="02020603050405020304" pitchFamily="18" charset="0"/>
                <a:cs typeface="Times New Roman" panose="02020603050405020304" pitchFamily="18" charset="0"/>
              </a:rPr>
              <a:t>của</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bộ</a:t>
            </a:r>
            <a:r>
              <a:rPr lang="en-US" sz="2400" dirty="0">
                <a:solidFill>
                  <a:schemeClr val="tx2">
                    <a:lumMod val="50000"/>
                  </a:schemeClr>
                </a:solidFill>
                <a:latin typeface="Times New Roman" panose="02020603050405020304" pitchFamily="18" charset="0"/>
                <a:cs typeface="Times New Roman" panose="02020603050405020304" pitchFamily="18" charset="0"/>
              </a:rPr>
              <a:t> Framework Standard</a:t>
            </a:r>
            <a:endParaRPr lang="vi-VN" sz="2400" dirty="0">
              <a:solidFill>
                <a:schemeClr val="tx2">
                  <a:lumMod val="50000"/>
                </a:schemeClr>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B907A89F-8FC6-6167-8D95-06DC23C8F6FA}"/>
              </a:ext>
            </a:extLst>
          </p:cNvPr>
          <p:cNvSpPr/>
          <p:nvPr/>
        </p:nvSpPr>
        <p:spPr>
          <a:xfrm>
            <a:off x="10058400" y="7553973"/>
            <a:ext cx="7162800" cy="591466"/>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2">
                    <a:lumMod val="50000"/>
                  </a:schemeClr>
                </a:solidFill>
                <a:latin typeface="Times New Roman" panose="02020603050405020304" pitchFamily="18" charset="0"/>
                <a:cs typeface="Times New Roman" panose="02020603050405020304" pitchFamily="18" charset="0"/>
              </a:rPr>
              <a:t>Kết</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quả</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sử</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dụng</a:t>
            </a:r>
            <a:r>
              <a:rPr lang="en-US" sz="2400" dirty="0">
                <a:solidFill>
                  <a:schemeClr val="tx2">
                    <a:lumMod val="50000"/>
                  </a:schemeClr>
                </a:solidFill>
                <a:latin typeface="Times New Roman" panose="02020603050405020304" pitchFamily="18" charset="0"/>
                <a:cs typeface="Times New Roman" panose="02020603050405020304" pitchFamily="18" charset="0"/>
              </a:rPr>
              <a:t> memory </a:t>
            </a:r>
            <a:r>
              <a:rPr lang="en-US" sz="2400" dirty="0" err="1">
                <a:solidFill>
                  <a:schemeClr val="tx2">
                    <a:lumMod val="50000"/>
                  </a:schemeClr>
                </a:solidFill>
                <a:latin typeface="Times New Roman" panose="02020603050405020304" pitchFamily="18" charset="0"/>
                <a:cs typeface="Times New Roman" panose="02020603050405020304" pitchFamily="18" charset="0"/>
              </a:rPr>
              <a:t>của</a:t>
            </a:r>
            <a:r>
              <a:rPr lang="en-US" sz="2400" dirty="0">
                <a:solidFill>
                  <a:schemeClr val="tx2">
                    <a:lumMod val="50000"/>
                  </a:schemeClr>
                </a:solidFill>
                <a:latin typeface="Times New Roman" panose="02020603050405020304" pitchFamily="18" charset="0"/>
                <a:cs typeface="Times New Roman" panose="02020603050405020304" pitchFamily="18" charset="0"/>
              </a:rPr>
              <a:t> </a:t>
            </a:r>
            <a:r>
              <a:rPr lang="en-US" sz="2400" dirty="0" err="1">
                <a:solidFill>
                  <a:schemeClr val="tx2">
                    <a:lumMod val="50000"/>
                  </a:schemeClr>
                </a:solidFill>
                <a:latin typeface="Times New Roman" panose="02020603050405020304" pitchFamily="18" charset="0"/>
                <a:cs typeface="Times New Roman" panose="02020603050405020304" pitchFamily="18" charset="0"/>
              </a:rPr>
              <a:t>bộ</a:t>
            </a:r>
            <a:r>
              <a:rPr lang="en-US" sz="2400" dirty="0">
                <a:solidFill>
                  <a:schemeClr val="tx2">
                    <a:lumMod val="50000"/>
                  </a:schemeClr>
                </a:solidFill>
                <a:latin typeface="Times New Roman" panose="02020603050405020304" pitchFamily="18" charset="0"/>
                <a:cs typeface="Times New Roman" panose="02020603050405020304" pitchFamily="18" charset="0"/>
              </a:rPr>
              <a:t> Framework RTL</a:t>
            </a:r>
            <a:endParaRPr lang="vi-VN" sz="2400" dirty="0">
              <a:solidFill>
                <a:schemeClr val="tx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997475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99D9C-C015-0BEA-69AB-A3957193267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C1DE12E-088C-4BCA-031D-3914E82C8B9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EEDAF70C-9C47-A415-2A2A-851427D18C60}"/>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20173DF0-6D7B-2B91-FEC2-CD7F45D6E1E5}"/>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5D595F3B-BFBC-A61C-3931-8155603AB2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633" y="1364670"/>
            <a:ext cx="10666733" cy="8676492"/>
          </a:xfrm>
          <a:prstGeom prst="rect">
            <a:avLst/>
          </a:prstGeom>
        </p:spPr>
      </p:pic>
    </p:spTree>
    <p:extLst>
      <p:ext uri="{BB962C8B-B14F-4D97-AF65-F5344CB8AC3E}">
        <p14:creationId xmlns:p14="http://schemas.microsoft.com/office/powerpoint/2010/main" val="69387323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C75E2-8988-5BD1-8B46-7C001030310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621266-581D-D6D0-5C9B-B218FD96355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7F34F8B6-7DC0-25A2-32FA-5D9453E89660}"/>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96D8E003-2ABA-CF4E-FA6A-35E4974D719E}"/>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7" name="Picture 6">
            <a:extLst>
              <a:ext uri="{FF2B5EF4-FFF2-40B4-BE49-F238E27FC236}">
                <a16:creationId xmlns:a16="http://schemas.microsoft.com/office/drawing/2014/main" id="{723F42EE-F132-5071-201A-B6426BB539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239" y="1457985"/>
            <a:ext cx="9487221" cy="8585516"/>
          </a:xfrm>
          <a:prstGeom prst="rect">
            <a:avLst/>
          </a:prstGeom>
        </p:spPr>
      </p:pic>
    </p:spTree>
    <p:extLst>
      <p:ext uri="{BB962C8B-B14F-4D97-AF65-F5344CB8AC3E}">
        <p14:creationId xmlns:p14="http://schemas.microsoft.com/office/powerpoint/2010/main" val="29156635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5D0FE-1568-47C6-B133-D788EF8593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B06537-19F9-61D7-65BC-5163717035D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88C9153D-3B45-5FE0-83ED-A0CC5D61AF5A}"/>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6BDF590A-6639-8C3F-6916-BCD4DB8B0C58}"/>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9" name="Picture 8">
            <a:extLst>
              <a:ext uri="{FF2B5EF4-FFF2-40B4-BE49-F238E27FC236}">
                <a16:creationId xmlns:a16="http://schemas.microsoft.com/office/drawing/2014/main" id="{F6BAB61A-2CEB-5F4C-4E06-0C6C555B9A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3573" y="1465242"/>
            <a:ext cx="11797556" cy="8585516"/>
          </a:xfrm>
          <a:prstGeom prst="rect">
            <a:avLst/>
          </a:prstGeom>
        </p:spPr>
      </p:pic>
    </p:spTree>
    <p:extLst>
      <p:ext uri="{BB962C8B-B14F-4D97-AF65-F5344CB8AC3E}">
        <p14:creationId xmlns:p14="http://schemas.microsoft.com/office/powerpoint/2010/main" val="302588853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7E3ED-F2F7-436A-3F19-FA079A83F91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670BD25-F2E5-FE67-D81E-7E15D5501AB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3B78B2E0-EAE6-E734-3871-E0610B75597C}"/>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48A9DA25-EA6F-A6F8-DC6B-830F99FC4381}"/>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E60BDC88-14A4-5555-71DC-02EAD97EC4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 y="1732327"/>
            <a:ext cx="17145000" cy="7054718"/>
          </a:xfrm>
          <a:prstGeom prst="rect">
            <a:avLst/>
          </a:prstGeom>
        </p:spPr>
      </p:pic>
    </p:spTree>
    <p:extLst>
      <p:ext uri="{BB962C8B-B14F-4D97-AF65-F5344CB8AC3E}">
        <p14:creationId xmlns:p14="http://schemas.microsoft.com/office/powerpoint/2010/main" val="159169050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AD7A2-C962-42A5-8D4C-591E51F222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2963670-6B20-0EE9-EDFE-CF0475AE5A6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F6A747DF-5338-C31A-FDC5-5C158B9578D2}"/>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6FEC809F-4C0F-1876-FB3F-23BDC32B6AF2}"/>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12A3CBC4-7A2B-2615-2414-26FC972646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340" y="2599927"/>
            <a:ext cx="17602200" cy="5087146"/>
          </a:xfrm>
          <a:prstGeom prst="rect">
            <a:avLst/>
          </a:prstGeom>
        </p:spPr>
      </p:pic>
    </p:spTree>
    <p:extLst>
      <p:ext uri="{BB962C8B-B14F-4D97-AF65-F5344CB8AC3E}">
        <p14:creationId xmlns:p14="http://schemas.microsoft.com/office/powerpoint/2010/main" val="335425193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8215C-DA1E-7188-7E12-FF1378C00E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461F649-1C29-C482-3DC9-CDA3AF6E575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1DA812C2-27A9-047D-A794-E26EC0D1649D}"/>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758FC94D-E6A4-7210-267A-42E35FBD6EBA}"/>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7" name="Picture 6">
            <a:extLst>
              <a:ext uri="{FF2B5EF4-FFF2-40B4-BE49-F238E27FC236}">
                <a16:creationId xmlns:a16="http://schemas.microsoft.com/office/drawing/2014/main" id="{433DFA2E-BD97-6C85-48AC-73756A94FE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6475" y="2657475"/>
            <a:ext cx="13735050" cy="4972050"/>
          </a:xfrm>
          <a:prstGeom prst="rect">
            <a:avLst/>
          </a:prstGeom>
        </p:spPr>
      </p:pic>
    </p:spTree>
    <p:extLst>
      <p:ext uri="{BB962C8B-B14F-4D97-AF65-F5344CB8AC3E}">
        <p14:creationId xmlns:p14="http://schemas.microsoft.com/office/powerpoint/2010/main" val="158288378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CDDB-31DB-78D5-E8CE-13F7751102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D8C66A2-B576-267D-5AEA-5993152643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08A3E9D1-F7D0-CD80-9FA5-F0A753546F1D}"/>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17A76C3E-DDCE-10E1-D16B-CF167F29BE36}"/>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61F51215-8475-2A86-89CF-85E8C6099A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1391884"/>
            <a:ext cx="17830800" cy="7930297"/>
          </a:xfrm>
          <a:prstGeom prst="rect">
            <a:avLst/>
          </a:prstGeom>
        </p:spPr>
      </p:pic>
    </p:spTree>
    <p:extLst>
      <p:ext uri="{BB962C8B-B14F-4D97-AF65-F5344CB8AC3E}">
        <p14:creationId xmlns:p14="http://schemas.microsoft.com/office/powerpoint/2010/main" val="418507928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C6C17-8E88-8A22-F82E-2B465D2E585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7BB7143-CC18-7BDC-ED4C-9BF178E7A61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9883BA18-DC46-1D0A-24AC-8A6FA166D3CA}"/>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075707C1-9655-5480-4A76-6B7B54685CEA}"/>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7" name="Picture 6">
            <a:extLst>
              <a:ext uri="{FF2B5EF4-FFF2-40B4-BE49-F238E27FC236}">
                <a16:creationId xmlns:a16="http://schemas.microsoft.com/office/drawing/2014/main" id="{736DB33B-2AAC-6D4D-0258-F74566C5F3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1391884"/>
            <a:ext cx="16764000" cy="8553386"/>
          </a:xfrm>
          <a:prstGeom prst="rect">
            <a:avLst/>
          </a:prstGeom>
        </p:spPr>
      </p:pic>
    </p:spTree>
    <p:extLst>
      <p:ext uri="{BB962C8B-B14F-4D97-AF65-F5344CB8AC3E}">
        <p14:creationId xmlns:p14="http://schemas.microsoft.com/office/powerpoint/2010/main" val="317532801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742E4-0C2B-BA16-A6A0-C8B2CD33642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3ACFBD-CF92-A170-BA7C-1A5F9551C33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5208707E-FABD-97DB-6264-6E4584AC8F61}"/>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5C5A70C7-DF8A-DB2C-F0BA-36C097031435}"/>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7CE01AB2-5629-E78B-1584-C10DB46CFC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9800" y="1701484"/>
            <a:ext cx="13015913" cy="8006527"/>
          </a:xfrm>
          <a:prstGeom prst="rect">
            <a:avLst/>
          </a:prstGeom>
        </p:spPr>
      </p:pic>
    </p:spTree>
    <p:extLst>
      <p:ext uri="{BB962C8B-B14F-4D97-AF65-F5344CB8AC3E}">
        <p14:creationId xmlns:p14="http://schemas.microsoft.com/office/powerpoint/2010/main" val="234500707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BE9C3-83F6-39E1-0A91-E9A17A47A4B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D8D4688-4190-EC25-FFF2-33F1E77EEA6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FFD8E208-A809-B36E-6F0F-BF3FF4B600D4}"/>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B60E9D89-1DD5-4A09-CE35-6BEFDC539FF3}"/>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7" name="Picture 6">
            <a:extLst>
              <a:ext uri="{FF2B5EF4-FFF2-40B4-BE49-F238E27FC236}">
                <a16:creationId xmlns:a16="http://schemas.microsoft.com/office/drawing/2014/main" id="{6479A7B0-F507-4107-CF22-30367D54E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5575" y="1701484"/>
            <a:ext cx="12896850" cy="7448550"/>
          </a:xfrm>
          <a:prstGeom prst="rect">
            <a:avLst/>
          </a:prstGeom>
        </p:spPr>
      </p:pic>
    </p:spTree>
    <p:extLst>
      <p:ext uri="{BB962C8B-B14F-4D97-AF65-F5344CB8AC3E}">
        <p14:creationId xmlns:p14="http://schemas.microsoft.com/office/powerpoint/2010/main" val="90428835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7A3E7-B2EC-F2A2-3A0B-F2FD11EB93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CE0FAA5-8618-EE1D-86FB-C9B3730DE26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39D6A0F6-48FE-299E-7BB8-79FC706E6655}"/>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DB98277C-2AF2-D497-EA10-64CD2CFB3B7A}"/>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A1DB0F5E-907A-E809-E1ED-DE47DD9B0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0" y="4707292"/>
            <a:ext cx="11201400" cy="5129986"/>
          </a:xfrm>
          <a:prstGeom prst="rect">
            <a:avLst/>
          </a:prstGeom>
        </p:spPr>
      </p:pic>
      <p:cxnSp>
        <p:nvCxnSpPr>
          <p:cNvPr id="11" name="Straight Connector 10">
            <a:extLst>
              <a:ext uri="{FF2B5EF4-FFF2-40B4-BE49-F238E27FC236}">
                <a16:creationId xmlns:a16="http://schemas.microsoft.com/office/drawing/2014/main" id="{A0493BFF-1B49-F5B4-0997-9CDDC635B83F}"/>
              </a:ext>
            </a:extLst>
          </p:cNvPr>
          <p:cNvCxnSpPr>
            <a:cxnSpLocks/>
          </p:cNvCxnSpPr>
          <p:nvPr/>
        </p:nvCxnSpPr>
        <p:spPr>
          <a:xfrm flipV="1">
            <a:off x="8724900" y="845299"/>
            <a:ext cx="419100" cy="4222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07864FD-70EF-2ABD-2B25-5BE8675F7B77}"/>
              </a:ext>
            </a:extLst>
          </p:cNvPr>
          <p:cNvCxnSpPr>
            <a:cxnSpLocks/>
          </p:cNvCxnSpPr>
          <p:nvPr/>
        </p:nvCxnSpPr>
        <p:spPr>
          <a:xfrm flipV="1">
            <a:off x="9677400" y="845299"/>
            <a:ext cx="4838700" cy="4222001"/>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4DB6B3B-4E9E-61B8-2443-4FA85EC4BE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1600" y="845299"/>
            <a:ext cx="5715000" cy="3513526"/>
          </a:xfrm>
          <a:prstGeom prst="rect">
            <a:avLst/>
          </a:prstGeom>
        </p:spPr>
      </p:pic>
      <p:cxnSp>
        <p:nvCxnSpPr>
          <p:cNvPr id="17" name="Straight Connector 16">
            <a:extLst>
              <a:ext uri="{FF2B5EF4-FFF2-40B4-BE49-F238E27FC236}">
                <a16:creationId xmlns:a16="http://schemas.microsoft.com/office/drawing/2014/main" id="{75D0DA0D-6D86-F218-6105-1CD0E7CEA3C7}"/>
              </a:ext>
            </a:extLst>
          </p:cNvPr>
          <p:cNvCxnSpPr>
            <a:cxnSpLocks/>
          </p:cNvCxnSpPr>
          <p:nvPr/>
        </p:nvCxnSpPr>
        <p:spPr>
          <a:xfrm flipV="1">
            <a:off x="9677400" y="4358825"/>
            <a:ext cx="4819650" cy="1927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561A4F9-085E-AF87-0C89-75599F40B5E1}"/>
              </a:ext>
            </a:extLst>
          </p:cNvPr>
          <p:cNvCxnSpPr>
            <a:cxnSpLocks/>
          </p:cNvCxnSpPr>
          <p:nvPr/>
        </p:nvCxnSpPr>
        <p:spPr>
          <a:xfrm flipV="1">
            <a:off x="8724900" y="4358825"/>
            <a:ext cx="419100" cy="19276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3492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8AE03-BF0A-2CC1-4389-DE29C373D5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E57FF4A-6D09-B74A-8259-A2235934AF7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0B45690A-88CF-A9C7-93B0-88DA15A6A228}"/>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5446C65C-67FB-A5B6-0793-C24C7E92620E}"/>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7" name="Picture 6">
            <a:extLst>
              <a:ext uri="{FF2B5EF4-FFF2-40B4-BE49-F238E27FC236}">
                <a16:creationId xmlns:a16="http://schemas.microsoft.com/office/drawing/2014/main" id="{3D262E3D-99A8-661A-4BC5-65CEA47643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15000" y="1701484"/>
            <a:ext cx="6410020" cy="7849575"/>
          </a:xfrm>
          <a:prstGeom prst="rect">
            <a:avLst/>
          </a:prstGeom>
        </p:spPr>
      </p:pic>
    </p:spTree>
    <p:extLst>
      <p:ext uri="{BB962C8B-B14F-4D97-AF65-F5344CB8AC3E}">
        <p14:creationId xmlns:p14="http://schemas.microsoft.com/office/powerpoint/2010/main" val="208727162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14EE4-2293-D174-FB07-219C29DD17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CE891E-EADA-341E-549C-935B7A55924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E032C62A-CFEC-C377-80C5-8C66430EF72B}"/>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64068B61-5E98-7850-3DC3-391F0D5C59F4}"/>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6" name="Picture 5">
            <a:extLst>
              <a:ext uri="{FF2B5EF4-FFF2-40B4-BE49-F238E27FC236}">
                <a16:creationId xmlns:a16="http://schemas.microsoft.com/office/drawing/2014/main" id="{6C72406B-A4C3-BD11-4322-456786B957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00" y="2019300"/>
            <a:ext cx="14487525" cy="7248525"/>
          </a:xfrm>
          <a:prstGeom prst="rect">
            <a:avLst/>
          </a:prstGeom>
        </p:spPr>
      </p:pic>
    </p:spTree>
    <p:extLst>
      <p:ext uri="{BB962C8B-B14F-4D97-AF65-F5344CB8AC3E}">
        <p14:creationId xmlns:p14="http://schemas.microsoft.com/office/powerpoint/2010/main" val="251135438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50FD1-F2B1-81B9-DB8F-48EB478812C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26AFB6D-B7AA-9ECD-F855-06558EC36D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sp>
        <p:nvSpPr>
          <p:cNvPr id="3" name="TextBox 3">
            <a:extLst>
              <a:ext uri="{FF2B5EF4-FFF2-40B4-BE49-F238E27FC236}">
                <a16:creationId xmlns:a16="http://schemas.microsoft.com/office/drawing/2014/main" id="{98E6B1D7-CA67-825F-7D31-21E892FF87F6}"/>
              </a:ext>
            </a:extLst>
          </p:cNvPr>
          <p:cNvSpPr txBox="1"/>
          <p:nvPr/>
        </p:nvSpPr>
        <p:spPr>
          <a:xfrm>
            <a:off x="1028700" y="309600"/>
            <a:ext cx="14592300" cy="1082284"/>
          </a:xfrm>
          <a:prstGeom prst="rect">
            <a:avLst/>
          </a:prstGeom>
        </p:spPr>
        <p:txBody>
          <a:bodyPr wrap="square" lIns="0" tIns="0" rIns="0" bIns="0" rtlCol="0" anchor="t">
            <a:spAutoFit/>
          </a:bodyPr>
          <a:lstStyle/>
          <a:p>
            <a:pPr algn="l">
              <a:lnSpc>
                <a:spcPts val="8959"/>
              </a:lnSpc>
              <a:spcBef>
                <a:spcPct val="0"/>
              </a:spcBef>
            </a:pPr>
            <a:r>
              <a:rPr lang="en-US" sz="6399" b="1" dirty="0">
                <a:solidFill>
                  <a:srgbClr val="042B91"/>
                </a:solidFill>
                <a:latin typeface="Calibri (MS) Bold"/>
                <a:ea typeface="Calibri (MS) Bold"/>
                <a:cs typeface="Calibri (MS) Bold"/>
                <a:sym typeface="Calibri (MS) Bold"/>
              </a:rPr>
              <a:t>3. </a:t>
            </a:r>
            <a:r>
              <a:rPr lang="en-US" sz="6399" b="1" dirty="0" err="1">
                <a:solidFill>
                  <a:srgbClr val="042B91"/>
                </a:solidFill>
                <a:latin typeface="Calibri (MS) Bold"/>
                <a:ea typeface="Calibri (MS) Bold"/>
                <a:cs typeface="Calibri (MS) Bold"/>
                <a:sym typeface="Calibri (MS) Bold"/>
              </a:rPr>
              <a:t>Thiết</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kế</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phần</a:t>
            </a:r>
            <a:r>
              <a:rPr lang="en-US" sz="6399" b="1" dirty="0">
                <a:solidFill>
                  <a:srgbClr val="042B91"/>
                </a:solidFill>
                <a:latin typeface="Calibri (MS) Bold"/>
                <a:ea typeface="Calibri (MS) Bold"/>
                <a:cs typeface="Calibri (MS) Bold"/>
                <a:sym typeface="Calibri (MS) Bold"/>
              </a:rPr>
              <a:t> </a:t>
            </a:r>
            <a:r>
              <a:rPr lang="en-US" sz="6399" b="1" dirty="0" err="1">
                <a:solidFill>
                  <a:srgbClr val="042B91"/>
                </a:solidFill>
                <a:latin typeface="Calibri (MS) Bold"/>
                <a:ea typeface="Calibri (MS) Bold"/>
                <a:cs typeface="Calibri (MS) Bold"/>
                <a:sym typeface="Calibri (MS) Bold"/>
              </a:rPr>
              <a:t>cứng</a:t>
            </a:r>
            <a:endParaRPr lang="en-US" sz="6399" b="1" dirty="0">
              <a:solidFill>
                <a:srgbClr val="042B91"/>
              </a:solidFill>
              <a:latin typeface="Calibri (MS) Bold"/>
              <a:ea typeface="Calibri (MS) Bold"/>
              <a:cs typeface="Calibri (MS) Bold"/>
              <a:sym typeface="Calibri (MS) Bold"/>
            </a:endParaRPr>
          </a:p>
        </p:txBody>
      </p:sp>
      <p:sp>
        <p:nvSpPr>
          <p:cNvPr id="4" name="TextBox 4">
            <a:extLst>
              <a:ext uri="{FF2B5EF4-FFF2-40B4-BE49-F238E27FC236}">
                <a16:creationId xmlns:a16="http://schemas.microsoft.com/office/drawing/2014/main" id="{ACC1BE3C-714D-AB83-DC8B-F5E32D23F56D}"/>
              </a:ext>
            </a:extLst>
          </p:cNvPr>
          <p:cNvSpPr txBox="1"/>
          <p:nvPr/>
        </p:nvSpPr>
        <p:spPr>
          <a:xfrm>
            <a:off x="17784702" y="9659082"/>
            <a:ext cx="161904" cy="382605"/>
          </a:xfrm>
          <a:prstGeom prst="rect">
            <a:avLst/>
          </a:prstGeom>
        </p:spPr>
        <p:txBody>
          <a:bodyPr wrap="none" lIns="0" tIns="0" rIns="0" bIns="0" rtlCol="0" anchor="t">
            <a:spAutoFit/>
          </a:bodyPr>
          <a:lstStyle/>
          <a:p>
            <a:pPr algn="ctr">
              <a:lnSpc>
                <a:spcPts val="3170"/>
              </a:lnSpc>
              <a:spcBef>
                <a:spcPct val="0"/>
              </a:spcBef>
            </a:pPr>
            <a:r>
              <a:rPr lang="en-US" sz="2264" dirty="0">
                <a:solidFill>
                  <a:srgbClr val="000000"/>
                </a:solidFill>
                <a:latin typeface="Noto Serif Display"/>
                <a:ea typeface="Noto Serif Display"/>
                <a:cs typeface="Noto Serif Display"/>
                <a:sym typeface="Noto Serif Display"/>
              </a:rPr>
              <a:t>3</a:t>
            </a:r>
          </a:p>
        </p:txBody>
      </p:sp>
      <p:pic>
        <p:nvPicPr>
          <p:cNvPr id="7" name="Picture 6">
            <a:extLst>
              <a:ext uri="{FF2B5EF4-FFF2-40B4-BE49-F238E27FC236}">
                <a16:creationId xmlns:a16="http://schemas.microsoft.com/office/drawing/2014/main" id="{6B91468F-28D4-BA13-D003-E089DD47E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3737" y="1701484"/>
            <a:ext cx="11820525" cy="3590925"/>
          </a:xfrm>
          <a:prstGeom prst="rect">
            <a:avLst/>
          </a:prstGeom>
        </p:spPr>
      </p:pic>
      <p:pic>
        <p:nvPicPr>
          <p:cNvPr id="9" name="Picture 8">
            <a:extLst>
              <a:ext uri="{FF2B5EF4-FFF2-40B4-BE49-F238E27FC236}">
                <a16:creationId xmlns:a16="http://schemas.microsoft.com/office/drawing/2014/main" id="{9B23E25A-B39A-C908-6CEE-21DFF697D7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46" y="5809092"/>
            <a:ext cx="18265254" cy="3630447"/>
          </a:xfrm>
          <a:prstGeom prst="rect">
            <a:avLst/>
          </a:prstGeom>
        </p:spPr>
      </p:pic>
    </p:spTree>
    <p:extLst>
      <p:ext uri="{BB962C8B-B14F-4D97-AF65-F5344CB8AC3E}">
        <p14:creationId xmlns:p14="http://schemas.microsoft.com/office/powerpoint/2010/main" val="75828088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vi-VN"/>
          </a:p>
        </p:txBody>
      </p:sp>
      <p:grpSp>
        <p:nvGrpSpPr>
          <p:cNvPr id="3" name="Group 3"/>
          <p:cNvGrpSpPr/>
          <p:nvPr/>
        </p:nvGrpSpPr>
        <p:grpSpPr>
          <a:xfrm>
            <a:off x="-7546" y="-9525"/>
            <a:ext cx="18303092" cy="10306050"/>
            <a:chOff x="0" y="0"/>
            <a:chExt cx="24404122" cy="13741400"/>
          </a:xfrm>
        </p:grpSpPr>
        <p:sp>
          <p:nvSpPr>
            <p:cNvPr id="4" name="Freeform 4"/>
            <p:cNvSpPr/>
            <p:nvPr/>
          </p:nvSpPr>
          <p:spPr>
            <a:xfrm>
              <a:off x="12700" y="12700"/>
              <a:ext cx="24378665" cy="13716000"/>
            </a:xfrm>
            <a:custGeom>
              <a:avLst/>
              <a:gdLst/>
              <a:ahLst/>
              <a:cxnLst/>
              <a:rect l="l" t="t" r="r" b="b"/>
              <a:pathLst>
                <a:path w="24378665" h="13716000">
                  <a:moveTo>
                    <a:pt x="0" y="0"/>
                  </a:moveTo>
                  <a:lnTo>
                    <a:pt x="24378665" y="0"/>
                  </a:lnTo>
                  <a:lnTo>
                    <a:pt x="24378665" y="13716000"/>
                  </a:lnTo>
                  <a:lnTo>
                    <a:pt x="0" y="13716000"/>
                  </a:lnTo>
                  <a:close/>
                </a:path>
              </a:pathLst>
            </a:custGeom>
            <a:gradFill rotWithShape="1">
              <a:gsLst>
                <a:gs pos="0">
                  <a:srgbClr val="F7FAFD">
                    <a:alpha val="0"/>
                  </a:srgbClr>
                </a:gs>
                <a:gs pos="38000">
                  <a:srgbClr val="FFFFFF">
                    <a:alpha val="15000"/>
                  </a:srgbClr>
                </a:gs>
                <a:gs pos="84000">
                  <a:srgbClr val="E7E6E6">
                    <a:alpha val="30000"/>
                  </a:srgbClr>
                </a:gs>
                <a:gs pos="100000">
                  <a:srgbClr val="E7E6E6">
                    <a:alpha val="100000"/>
                  </a:srgbClr>
                </a:gs>
              </a:gsLst>
              <a:path path="circle">
                <a:fillToRect l="50000" t="50000" r="50000" b="50000"/>
              </a:path>
            </a:gradFill>
          </p:spPr>
          <p:txBody>
            <a:bodyPr/>
            <a:lstStyle/>
            <a:p>
              <a:endParaRPr lang="vi-VN"/>
            </a:p>
          </p:txBody>
        </p:sp>
        <p:sp>
          <p:nvSpPr>
            <p:cNvPr id="5" name="Freeform 5"/>
            <p:cNvSpPr/>
            <p:nvPr/>
          </p:nvSpPr>
          <p:spPr>
            <a:xfrm>
              <a:off x="0" y="0"/>
              <a:ext cx="24404065" cy="13741400"/>
            </a:xfrm>
            <a:custGeom>
              <a:avLst/>
              <a:gdLst/>
              <a:ahLst/>
              <a:cxnLst/>
              <a:rect l="l" t="t" r="r" b="b"/>
              <a:pathLst>
                <a:path w="24404065" h="13741400">
                  <a:moveTo>
                    <a:pt x="12700" y="0"/>
                  </a:moveTo>
                  <a:lnTo>
                    <a:pt x="24391365" y="0"/>
                  </a:lnTo>
                  <a:cubicBezTo>
                    <a:pt x="24398351" y="0"/>
                    <a:pt x="24404065" y="5715"/>
                    <a:pt x="24404065" y="12700"/>
                  </a:cubicBezTo>
                  <a:lnTo>
                    <a:pt x="24404065" y="13728700"/>
                  </a:lnTo>
                  <a:cubicBezTo>
                    <a:pt x="24404065" y="13735686"/>
                    <a:pt x="24398351" y="13741400"/>
                    <a:pt x="24391365"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1365" y="13716000"/>
                  </a:lnTo>
                  <a:lnTo>
                    <a:pt x="24391365" y="13728700"/>
                  </a:lnTo>
                  <a:lnTo>
                    <a:pt x="24378665" y="13728700"/>
                  </a:lnTo>
                  <a:lnTo>
                    <a:pt x="24378665" y="12700"/>
                  </a:lnTo>
                  <a:lnTo>
                    <a:pt x="24391365" y="12700"/>
                  </a:lnTo>
                  <a:lnTo>
                    <a:pt x="24391365" y="25400"/>
                  </a:lnTo>
                  <a:lnTo>
                    <a:pt x="12700" y="25400"/>
                  </a:lnTo>
                  <a:close/>
                </a:path>
              </a:pathLst>
            </a:custGeom>
            <a:solidFill>
              <a:srgbClr val="41719C"/>
            </a:solidFill>
          </p:spPr>
          <p:txBody>
            <a:bodyPr/>
            <a:lstStyle/>
            <a:p>
              <a:endParaRPr lang="vi-VN"/>
            </a:p>
          </p:txBody>
        </p:sp>
      </p:grpSp>
      <p:grpSp>
        <p:nvGrpSpPr>
          <p:cNvPr id="6" name="Group 6"/>
          <p:cNvGrpSpPr/>
          <p:nvPr/>
        </p:nvGrpSpPr>
        <p:grpSpPr>
          <a:xfrm>
            <a:off x="1257300" y="4153332"/>
            <a:ext cx="15773400" cy="2707066"/>
            <a:chOff x="0" y="0"/>
            <a:chExt cx="21031200" cy="3609422"/>
          </a:xfrm>
        </p:grpSpPr>
        <p:sp>
          <p:nvSpPr>
            <p:cNvPr id="7" name="Freeform 7"/>
            <p:cNvSpPr/>
            <p:nvPr/>
          </p:nvSpPr>
          <p:spPr>
            <a:xfrm>
              <a:off x="0" y="0"/>
              <a:ext cx="21031200" cy="3609422"/>
            </a:xfrm>
            <a:custGeom>
              <a:avLst/>
              <a:gdLst/>
              <a:ahLst/>
              <a:cxnLst/>
              <a:rect l="l" t="t" r="r" b="b"/>
              <a:pathLst>
                <a:path w="21031200" h="3609422">
                  <a:moveTo>
                    <a:pt x="0" y="0"/>
                  </a:moveTo>
                  <a:lnTo>
                    <a:pt x="21031200" y="0"/>
                  </a:lnTo>
                  <a:lnTo>
                    <a:pt x="21031200" y="3609422"/>
                  </a:lnTo>
                  <a:lnTo>
                    <a:pt x="0" y="3609422"/>
                  </a:lnTo>
                  <a:close/>
                </a:path>
              </a:pathLst>
            </a:custGeom>
            <a:solidFill>
              <a:srgbClr val="000000">
                <a:alpha val="0"/>
              </a:srgbClr>
            </a:solidFill>
          </p:spPr>
          <p:txBody>
            <a:bodyPr/>
            <a:lstStyle/>
            <a:p>
              <a:endParaRPr lang="vi-VN"/>
            </a:p>
          </p:txBody>
        </p:sp>
        <p:sp>
          <p:nvSpPr>
            <p:cNvPr id="8" name="TextBox 8"/>
            <p:cNvSpPr txBox="1"/>
            <p:nvPr/>
          </p:nvSpPr>
          <p:spPr>
            <a:xfrm>
              <a:off x="0" y="-66675"/>
              <a:ext cx="21031200" cy="3676097"/>
            </a:xfrm>
            <a:prstGeom prst="rect">
              <a:avLst/>
            </a:prstGeom>
          </p:spPr>
          <p:txBody>
            <a:bodyPr lIns="0" tIns="0" rIns="0" bIns="0" rtlCol="0" anchor="ctr"/>
            <a:lstStyle/>
            <a:p>
              <a:pPr algn="ctr">
                <a:lnSpc>
                  <a:spcPts val="8640"/>
                </a:lnSpc>
              </a:pPr>
              <a:r>
                <a:rPr lang="en-US" sz="8000" b="1">
                  <a:solidFill>
                    <a:srgbClr val="042B91"/>
                  </a:solidFill>
                  <a:latin typeface="Calibri (MS) Bold"/>
                  <a:ea typeface="Calibri (MS) Bold"/>
                  <a:cs typeface="Calibri (MS) Bold"/>
                  <a:sym typeface="Calibri (MS) Bold"/>
                </a:rPr>
                <a:t>Xin cảm ơn quý thầy cô và mọi người đã lắng nghe phần thuyết trình này</a:t>
              </a:r>
            </a:p>
          </p:txBody>
        </p:sp>
      </p:grpSp>
      <p:sp>
        <p:nvSpPr>
          <p:cNvPr id="9" name="Freeform 9"/>
          <p:cNvSpPr/>
          <p:nvPr/>
        </p:nvSpPr>
        <p:spPr>
          <a:xfrm>
            <a:off x="8542589" y="336894"/>
            <a:ext cx="1521832" cy="1383612"/>
          </a:xfrm>
          <a:custGeom>
            <a:avLst/>
            <a:gdLst/>
            <a:ahLst/>
            <a:cxnLst/>
            <a:rect l="l" t="t" r="r" b="b"/>
            <a:pathLst>
              <a:path w="1521832" h="1383612">
                <a:moveTo>
                  <a:pt x="0" y="0"/>
                </a:moveTo>
                <a:lnTo>
                  <a:pt x="1521832" y="0"/>
                </a:lnTo>
                <a:lnTo>
                  <a:pt x="1521832" y="1383612"/>
                </a:lnTo>
                <a:lnTo>
                  <a:pt x="0" y="1383612"/>
                </a:lnTo>
                <a:lnTo>
                  <a:pt x="0" y="0"/>
                </a:lnTo>
                <a:close/>
              </a:path>
            </a:pathLst>
          </a:custGeom>
          <a:blipFill>
            <a:blip r:embed="rId4"/>
            <a:stretch>
              <a:fillRect t="-36" b="-36"/>
            </a:stretch>
          </a:blipFill>
        </p:spPr>
        <p:txBody>
          <a:bodyPr/>
          <a:lstStyle/>
          <a:p>
            <a:endParaRPr lang="vi-VN"/>
          </a:p>
        </p:txBody>
      </p:sp>
      <p:sp>
        <p:nvSpPr>
          <p:cNvPr id="10" name="TextBox 10"/>
          <p:cNvSpPr txBox="1"/>
          <p:nvPr/>
        </p:nvSpPr>
        <p:spPr>
          <a:xfrm>
            <a:off x="17789454" y="9659082"/>
            <a:ext cx="152400" cy="190500"/>
          </a:xfrm>
          <a:prstGeom prst="rect">
            <a:avLst/>
          </a:prstGeom>
        </p:spPr>
        <p:txBody>
          <a:bodyPr wrap="none" lIns="0" tIns="0" rIns="0" bIns="0" rtlCol="0" anchor="t">
            <a:spAutoFit/>
          </a:bodyPr>
          <a:lstStyle/>
          <a:p>
            <a:pPr algn="ctr">
              <a:lnSpc>
                <a:spcPts val="3170"/>
              </a:lnSpc>
              <a:spcBef>
                <a:spcPct val="0"/>
              </a:spcBef>
            </a:pPr>
            <a:r>
              <a:rPr lang="en-US" sz="2264">
                <a:solidFill>
                  <a:srgbClr val="000000"/>
                </a:solidFill>
                <a:latin typeface="Noto Serif Display"/>
                <a:ea typeface="Noto Serif Display"/>
                <a:cs typeface="Noto Serif Display"/>
                <a:sym typeface="Noto Serif Display"/>
              </a:rPr>
              <a:t>26</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TotalTime>
  <Words>1086</Words>
  <Application>Microsoft Office PowerPoint</Application>
  <PresentationFormat>Custom</PresentationFormat>
  <Paragraphs>167</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Calibri (MS)</vt:lpstr>
      <vt:lpstr>Arial</vt:lpstr>
      <vt:lpstr>Noto Serif Display</vt:lpstr>
      <vt:lpstr>Calibri (MS)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báo cáo đồ án tốt nghiệp</dc:title>
  <cp:lastModifiedBy>nguyen dong</cp:lastModifiedBy>
  <cp:revision>61</cp:revision>
  <dcterms:created xsi:type="dcterms:W3CDTF">2006-08-16T00:00:00Z</dcterms:created>
  <dcterms:modified xsi:type="dcterms:W3CDTF">2026-01-08T12:29:40Z</dcterms:modified>
  <dc:identifier>DAGnVWv1ZVU</dc:identifier>
</cp:coreProperties>
</file>